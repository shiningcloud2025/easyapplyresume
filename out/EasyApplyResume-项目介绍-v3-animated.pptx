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EasyApplyResume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2860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易投简历 — AI 智能求职与简历管理平台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· ReAct Agent · RAG · 多模型集成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+ MySQL + PostgreSQL + Redis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+ DashScope + 智谱AI + 豆包 + Ollama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Nacos + Spring Boot Admin + Prometheus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shiningCloud2025  |  2026年6月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1 / 9</a:t>
            </a:r>
            <a:endParaRPr lang="en-US" sz="750" dirty="0"/>
          </a:p>
        </p:txBody>
      </p:sp>
    </p:spTree>
  </p:cSld>
  <p:transition spd="med">
    <p:fade/>
  </p:transition>
  <p:timing>
    <p:tnLst>
      <p:par>
        <p:cTn id="9901" dur="indefinite" restart="never" nodeType="tmRoot">
          <p:childTnLst>
            <p:seq concurrent="1" nextAc="seek">
              <p:cTn id="9902" dur="indefinite" nodeType="mainSeq">
                <p:childTnLst>
                  <p:par>
                    <p:cTn id="9903" dur="600" fill="hold">
                      <p:stCondLst>
                        <p:cond delay="100"/>
                      </p:stCondLst>
                      <p:childTnLst>
                        <p:animEffect transition="in" filterType="zoom" zoomTransition="in">
                          <p:cBhvr>
                            <p:cTn id="9904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905" dur="500" fill="hold">
                      <p:stCondLst>
                        <p:cond delay="500"/>
                      </p:stCondLst>
                      <p:childTnLst>
                        <p:animEffect transition="in" filterType="fade">
                          <p:cBhvr>
                            <p:cTn id="9906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9907" dur="400" fill="hold">
                      <p:stCondLst>
                        <p:cond delay="900"/>
                      </p:stCondLst>
                      <p:childTnLst>
                        <p:animEffect transition="in" filterType="fade">
                          <p:cBhvr>
                            <p:cTn id="9908" dur="4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909" dur="400" fill="hold">
                      <p:stCondLst>
                        <p:cond delay="900"/>
                      </p:stCondLst>
                      <p:childTnLst>
                        <p:animEffect transition="in" filterType="fade">
                          <p:cBhvr>
                            <p:cTn id="9910" dur="4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911" dur="400" fill="hold">
                      <p:stCondLst>
                        <p:cond delay="1800"/>
                      </p:stCondLst>
                      <p:childTnLst>
                        <p:animEffect transition="in" filterType="fade">
                          <p:cBhvr>
                            <p:cTn id="9912" dur="4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913" dur="600" fill="hold">
                      <p:stCondLst>
                        <p:cond delay="100"/>
                      </p:stCondLst>
                      <p:childTnLst>
                        <p:animEffect transition="in" filterType="zoom" zoomTransition="in">
                          <p:cBhvr>
                            <p:cTn id="9914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问题背景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当前求职市场的核心痛点与 AI 破局之道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09728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09728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2344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简历制作低效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缺乏专业指导，简历内容空洞、结构混乱、表达不专业，严重影响面试邀约率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0" y="12344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求职信息不对称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难以获取全面职位信息、行业动态和公司评价，缺乏有效决策依据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" y="288036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0175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管理者运营负担重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429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HR和管理员面临大量重复性简历筛选、用户管理、数据统计，效率低下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0" y="30175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缺乏个性化服务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429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传统平台千篇一律，无法根据个人背景和目标岗位提供量身定制优化建议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219456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457200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核心思路：基于 Spring AI 生态，构建 AI Agent 驱动的智能求职助手，实现简历优化、智能问答、自动化运营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2 / 9</a:t>
            </a:r>
            <a:endParaRPr lang="en-US" sz="750" dirty="0"/>
          </a:p>
        </p:txBody>
      </p:sp>
    </p:spTree>
  </p:cSld>
  <p:transition spd="med">
    <p:push dir="l"/>
  </p:transition>
  <p:timing>
    <p:tnLst>
      <p:par>
        <p:cTn id="9915" dur="indefinite" restart="never" nodeType="tmRoot">
          <p:childTnLst>
            <p:seq concurrent="1" nextAc="seek">
              <p:cTn id="9916" dur="indefinite" nodeType="mainSeq">
                <p:childTnLst>
                  <p:par>
                    <p:cTn id="9917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18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919" dur="350" fill="hold">
                      <p:stCondLst>
                        <p:cond delay="150"/>
                      </p:stCondLst>
                      <p:childTnLst>
                        <p:animEffect transition="in" filterType="fade">
                          <p:cBhvr>
                            <p:cTn id="9920" dur="3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921" dur="400" fill="hold">
                      <p:stCondLst>
                        <p:cond delay="350"/>
                      </p:stCondLst>
                      <p:childTnLst>
                        <p:animEffect transition="in" filterType="fly" from="l">
                          <p:cBhvr>
                            <p:cTn id="9922" dur="4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923" dur="350" fill="hold">
                      <p:stCondLst>
                        <p:cond delay="660"/>
                      </p:stCondLst>
                      <p:childTnLst>
                        <p:animEffect transition="in" filterType="fade">
                          <p:cBhvr>
                            <p:cTn id="9924" dur="35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925" dur="400" fill="hold">
                      <p:stCondLst>
                        <p:cond delay="550"/>
                      </p:stCondLst>
                      <p:childTnLst>
                        <p:animEffect transition="in" filterType="fly" from="r">
                          <p:cBhvr>
                            <p:cTn id="9926" dur="4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927" dur="350" fill="hold">
                      <p:stCondLst>
                        <p:cond delay="700"/>
                      </p:stCondLst>
                      <p:childTnLst>
                        <p:animEffect transition="in" filterType="fade">
                          <p:cBhvr>
                            <p:cTn id="9928" dur="35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9929" dur="400" fill="hold">
                      <p:stCondLst>
                        <p:cond delay="750"/>
                      </p:stCondLst>
                      <p:childTnLst>
                        <p:animEffect transition="in" filterType="fly" from="l">
                          <p:cBhvr>
                            <p:cTn id="9930" dur="4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9931" dur="350" fill="hold">
                      <p:stCondLst>
                        <p:cond delay="740"/>
                      </p:stCondLst>
                      <p:childTnLst>
                        <p:animEffect transition="in" filterType="fade">
                          <p:cBhvr>
                            <p:cTn id="9932" dur="35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9933" dur="400" fill="hold">
                      <p:stCondLst>
                        <p:cond delay="950"/>
                      </p:stCondLst>
                      <p:childTnLst>
                        <p:animEffect transition="in" filterType="fly" from="r">
                          <p:cBhvr>
                            <p:cTn id="9934" dur="4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9935" dur="350" fill="hold">
                      <p:stCondLst>
                        <p:cond delay="780"/>
                      </p:stCondLst>
                      <p:childTnLst>
                        <p:animEffect transition="in" filterType="fade">
                          <p:cBhvr>
                            <p:cTn id="9936" dur="35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9937" dur="400" fill="hold">
                      <p:stCondLst>
                        <p:cond delay="1300"/>
                      </p:stCondLst>
                      <p:childTnLst>
                        <p:animEffect transition="in" filterType="fade">
                          <p:cBhvr>
                            <p:cTn id="9938" dur="4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9939" dur="300" fill="hold">
                      <p:stCondLst>
                        <p:cond delay="1600"/>
                      </p:stCondLst>
                      <p:childTnLst>
                        <p:animEffect transition="in" filterType="fade">
                          <p:cBhvr>
                            <p:cTn id="9940" dur="3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技术选型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微服务架构，多层次 AI 能力集成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基础框架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(Java 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3.5.7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配置/服务发现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容器化部署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1143000"/>
            <a:ext cx="269748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8328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LLM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4787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1.0.0-M6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54787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(DashScope)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4787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智谱AI (GLM-4)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54787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 (OpenAI协议)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54787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本地模型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1143000"/>
            <a:ext cx="269748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0936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数据与存储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7395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(主库)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7395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7395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(缓存/JWT)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7395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七牛云 OSS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7395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57200" y="3931920"/>
            <a:ext cx="4572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85800" y="3950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能力矩阵：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· RAG 检索增强 · MCP 客户端 · 多模型适配 · 向量数据库 · Function Calling · 对话记忆 · 敏感词过滤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3 / 9</a:t>
            </a:r>
            <a:endParaRPr lang="en-US" sz="750" dirty="0"/>
          </a:p>
        </p:txBody>
      </p:sp>
    </p:spTree>
  </p:cSld>
  <p:transition spd="med">
    <p:cover dir="r"/>
  </p:transition>
  <p:timing>
    <p:tnLst>
      <p:par>
        <p:cTn id="9941" dur="indefinite" restart="never" nodeType="tmRoot">
          <p:childTnLst>
            <p:seq concurrent="1" nextAc="seek">
              <p:cTn id="9942" dur="indefinite" nodeType="mainSeq">
                <p:childTnLst>
                  <p:par>
                    <p:cTn id="9943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44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945" dur="350" fill="hold">
                      <p:stCondLst>
                        <p:cond delay="150"/>
                      </p:stCondLst>
                      <p:childTnLst>
                        <p:animEffect transition="in" filterType="fade">
                          <p:cBhvr>
                            <p:cTn id="9946" dur="3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947" dur="400" fill="hold">
                      <p:stCondLst>
                        <p:cond delay="350"/>
                      </p:stCondLst>
                      <p:childTnLst>
                        <p:animEffect transition="in" filterType="wipe" from="t">
                          <p:cBhvr>
                            <p:cTn id="9948" dur="4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949" dur="350" fill="hold">
                      <p:stCondLst>
                        <p:cond delay="150"/>
                      </p:stCondLst>
                      <p:childTnLst>
                        <p:animEffect transition="in" filterType="fade">
                          <p:cBhvr>
                            <p:cTn id="9950" dur="35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951" dur="400" fill="hold">
                      <p:stCondLst>
                        <p:cond delay="550"/>
                      </p:stCondLst>
                      <p:childTnLst>
                        <p:animEffect transition="in" filterType="wipe" from="t">
                          <p:cBhvr>
                            <p:cTn id="9952" dur="4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9953" dur="350" fill="hold">
                      <p:stCondLst>
                        <p:cond delay="770"/>
                      </p:stCondLst>
                      <p:childTnLst>
                        <p:animEffect transition="in" filterType="fade">
                          <p:cBhvr>
                            <p:cTn id="9954" dur="35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9955" dur="400" fill="hold">
                      <p:stCondLst>
                        <p:cond delay="750"/>
                      </p:stCondLst>
                      <p:childTnLst>
                        <p:animEffect transition="in" filterType="wipe" from="t">
                          <p:cBhvr>
                            <p:cTn id="9956" dur="4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9957" dur="350" fill="hold">
                      <p:stCondLst>
                        <p:cond delay="950"/>
                      </p:stCondLst>
                      <p:childTnLst>
                        <p:animEffect transition="in" filterType="fade">
                          <p:cBhvr>
                            <p:cTn id="9958" dur="35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9959" dur="400" fill="hold">
                      <p:stCondLst>
                        <p:cond delay="1100"/>
                      </p:stCondLst>
                      <p:childTnLst>
                        <p:animEffect transition="in" filterType="fade">
                          <p:cBhvr>
                            <p:cTn id="9960" dur="4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  <p:par>
                    <p:cTn id="9961" dur="300" fill="hold">
                      <p:stCondLst>
                        <p:cond delay="1300"/>
                      </p:stCondLst>
                      <p:childTnLst>
                        <p:animEffect transition="in" filterType="fade">
                          <p:cBhvr>
                            <p:cTn id="9962" dur="3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智能体架构设计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ReAct Agent 模式：思考 → 行动循环 + 工具调用 + RAG 增强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09728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继承体系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274320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34440" y="1682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9751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 · 步骤循环 · 流式SSE · 资源清理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2304288"/>
            <a:ext cx="0" cy="3931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51560" y="2697480"/>
            <a:ext cx="3108960" cy="65836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51560" y="2734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0266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&amp; Act 模式 · 思考-行动循环 · 步骤编排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06040" y="3355848"/>
            <a:ext cx="0" cy="3931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68680" y="3749040"/>
            <a:ext cx="3474720" cy="658368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ToolCallAgent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078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工具调用管理 · 对话上下文 · 终止判断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92040" y="1097280"/>
            <a:ext cx="3794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74920" y="1170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核心组件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6459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074920" y="16459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03520" y="16733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ChatMemory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18562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MySQL+内存混合持久化，多轮对话上下文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21031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074920" y="21031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03520" y="21305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Advisor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23134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PgVector向量库+云知识库+查询重写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74920" y="25603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074920" y="25603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03520" y="25877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(8个)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27706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网页搜索·终端操作·文件管理·PDF·邮件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74920" y="30175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074920" y="30175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303520" y="3044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敏感词过滤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0" y="32278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双端Advisor，覆盖百种违规类型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074920" y="34747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74920" y="34747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303520" y="35021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Client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03520" y="36850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Stdio/SSE协议工具集成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74920" y="39319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074920" y="39319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303520" y="39593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Router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0" y="41422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DashScope/智谱/豆包/Ollama自由切换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1520" y="45262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ResumeAssistantAgent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C端助手　　　</a:t>
            </a:r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SystemAssistantAgent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B端助手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4 / 9</a:t>
            </a:r>
            <a:endParaRPr lang="en-US" sz="750" dirty="0"/>
          </a:p>
        </p:txBody>
      </p:sp>
    </p:spTree>
  </p:cSld>
  <p:transition spd="med">
    <p:wipe dir="l"/>
  </p:transition>
  <p:timing>
    <p:tnLst>
      <p:par>
        <p:cTn id="9963" dur="indefinite" restart="never" nodeType="tmRoot">
          <p:childTnLst>
            <p:seq concurrent="1" nextAc="seek">
              <p:cTn id="9964" dur="indefinite" nodeType="mainSeq">
                <p:childTnLst>
                  <p:par>
                    <p:cTn id="9965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6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967" dur="350" fill="hold">
                      <p:stCondLst>
                        <p:cond delay="150"/>
                      </p:stCondLst>
                      <p:childTnLst>
                        <p:animEffect transition="in" filterType="fade">
                          <p:cBhvr>
                            <p:cTn id="9968" dur="35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969" dur="400" fill="hold">
                      <p:stCondLst>
                        <p:cond delay="350"/>
                      </p:stCondLst>
                      <p:childTnLst>
                        <p:animEffect transition="in" filterType="fly" from="b">
                          <p:cBhvr>
                            <p:cTn id="9970" dur="4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971" dur="400" fill="hold">
                      <p:stCondLst>
                        <p:cond delay="550"/>
                      </p:stCondLst>
                      <p:childTnLst>
                        <p:animEffect transition="in" filterType="fly" from="b">
                          <p:cBhvr>
                            <p:cTn id="9972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9973" dur="400" fill="hold">
                      <p:stCondLst>
                        <p:cond delay="750"/>
                      </p:stCondLst>
                      <p:childTnLst>
                        <p:animEffect transition="in" filterType="fly" from="b">
                          <p:cBhvr>
                            <p:cTn id="9974" dur="4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9975" dur="350" fill="hold">
                      <p:stCondLst>
                        <p:cond delay="150"/>
                      </p:stCondLst>
                      <p:childTnLst>
                        <p:animEffect transition="in" filterType="fade">
                          <p:cBhvr>
                            <p:cTn id="9976" dur="35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9977" dur="350" fill="hold">
                      <p:stCondLst>
                        <p:cond delay="650"/>
                      </p:stCondLst>
                      <p:childTnLst>
                        <p:animEffect transition="in" filterType="fade">
                          <p:cBhvr>
                            <p:cTn id="9978" dur="35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9979" dur="350" fill="hold">
                      <p:stCondLst>
                        <p:cond delay="700"/>
                      </p:stCondLst>
                      <p:childTnLst>
                        <p:animEffect transition="in" filterType="fade">
                          <p:cBhvr>
                            <p:cTn id="9980" dur="3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9981" dur="350" fill="hold">
                      <p:stCondLst>
                        <p:cond delay="750"/>
                      </p:stCondLst>
                      <p:childTnLst>
                        <p:animEffect transition="in" filterType="fade">
                          <p:cBhvr>
                            <p:cTn id="9982" dur="35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9983" dur="350" fill="hold">
                      <p:stCondLst>
                        <p:cond delay="800"/>
                      </p:stCondLst>
                      <p:childTnLst>
                        <p:animEffect transition="in" filterType="fade">
                          <p:cBhvr>
                            <p:cTn id="9984" dur="35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9985" dur="350" fill="hold">
                      <p:stCondLst>
                        <p:cond delay="850"/>
                      </p:stCondLst>
                      <p:childTnLst>
                        <p:animEffect transition="in" filterType="fade">
                          <p:cBhvr>
                            <p:cTn id="9986" dur="35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9987" dur="350" fill="hold">
                      <p:stCondLst>
                        <p:cond delay="900"/>
                      </p:stCondLst>
                      <p:childTnLst>
                        <p:animEffect transition="in" filterType="fade">
                          <p:cBhvr>
                            <p:cTn id="9988" dur="35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  <p:par>
                    <p:cTn id="9989" dur="400" fill="hold">
                      <p:stCondLst>
                        <p:cond delay="1300"/>
                      </p:stCondLst>
                      <p:childTnLst>
                        <p:animEffect transition="in" filterType="fade">
                          <p:cBhvr>
                            <p:cTn id="9990" dur="4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  <p:par>
                    <p:cTn id="9991" dur="300" fill="hold">
                      <p:stCondLst>
                        <p:cond delay="1500"/>
                      </p:stCondLst>
                      <p:childTnLst>
                        <p:animEffect transition="in" filterType="fade">
                          <p:cBhvr>
                            <p:cTn id="9992" dur="3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核心功能：C端 — AI 简历助手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面向求职者的全流程 AI 辅助：从简历优化到求职决策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智能简历润色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语法优化 · 专业表达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结构重组 · 量化成果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STAR法则改写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2044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定制化建议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按行业/岗位定制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保研/留学场景适配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多版本输出 · 关键词优化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知识增强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向量库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云知识库检索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查询重写 · 实时行业数据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工具调用能力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联网搜索职位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简历PDF生成 · 邮件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文件下载 · 网页抓取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33756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2044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流式对话体验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SSE实时流式输出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多轮上下文记忆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混合持久化 · 敏感词过滤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21792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求职生态服务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职位浏览/收藏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简历模板 · 面试题库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行业资讯 · 地区数据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5 / 9</a:t>
            </a:r>
            <a:endParaRPr lang="en-US" sz="750" dirty="0"/>
          </a:p>
        </p:txBody>
      </p:sp>
    </p:spTree>
  </p:cSld>
  <p:transition spd="med">
    <p:uncover dir="d"/>
  </p:transition>
  <p:timing>
    <p:tnLst>
      <p:par>
        <p:cTn id="9993" dur="indefinite" restart="never" nodeType="tmRoot">
          <p:childTnLst>
            <p:seq concurrent="1" nextAc="seek">
              <p:cTn id="9994" dur="indefinite" nodeType="mainSeq">
                <p:childTnLst>
                  <p:par>
                    <p:cTn id="9995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999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997" dur="350" fill="hold">
                      <p:stCondLst>
                        <p:cond delay="150"/>
                      </p:stCondLst>
                      <p:childTnLst>
                        <p:animEffect transition="in" filterType="fade">
                          <p:cBhvr>
                            <p:cTn id="9998" dur="3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999" dur="350" fill="hold">
                      <p:stCondLst>
                        <p:cond delay="340"/>
                      </p:stCondLst>
                      <p:childTnLst>
                        <p:animEffect transition="in" filterType="fade">
                          <p:cBhvr>
                            <p:cTn id="10000" dur="3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0001" dur="350" fill="hold">
                      <p:stCondLst>
                        <p:cond delay="380"/>
                      </p:stCondLst>
                      <p:childTnLst>
                        <p:animEffect transition="in" filterType="fade">
                          <p:cBhvr>
                            <p:cTn id="10002" dur="35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0003" dur="350" fill="hold">
                      <p:stCondLst>
                        <p:cond delay="420"/>
                      </p:stCondLst>
                      <p:childTnLst>
                        <p:animEffect transition="in" filterType="fade">
                          <p:cBhvr>
                            <p:cTn id="10004" dur="35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0005" dur="350" fill="hold">
                      <p:stCondLst>
                        <p:cond delay="460"/>
                      </p:stCondLst>
                      <p:childTnLst>
                        <p:animEffect transition="in" filterType="fade">
                          <p:cBhvr>
                            <p:cTn id="10006" dur="35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0007" dur="350" fill="hold">
                      <p:stCondLst>
                        <p:cond delay="500"/>
                      </p:stCondLst>
                      <p:childTnLst>
                        <p:animEffect transition="in" filterType="fade">
                          <p:cBhvr>
                            <p:cTn id="10008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0009" dur="350" fill="hold">
                      <p:stCondLst>
                        <p:cond delay="540"/>
                      </p:stCondLst>
                      <p:childTnLst>
                        <p:animEffect transition="in" filterType="fade">
                          <p:cBhvr>
                            <p:cTn id="10010" dur="35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10011" dur="300" fill="hold">
                      <p:stCondLst>
                        <p:cond delay="1500"/>
                      </p:stCondLst>
                      <p:childTnLst>
                        <p:animEffect transition="in" filterType="fade">
                          <p:cBhvr>
                            <p:cTn id="10012" dur="3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核心功能：B端 — AI 系统管理助手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面向管理员的 AI 运维辅助：权限管理 · 内容运营 · 数据监控 · 智能诊断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097280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97280"/>
            <a:ext cx="4572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1430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管理员管理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990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增删改查 · RBAC角色权限 · 账户状态管理 · 登录日志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810512"/>
            <a:ext cx="4572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1856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内容运营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122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公告/广告管理 · FAQ问答库 · 项目/团队介绍 · 合作伙伴 · 媒体报道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523744"/>
            <a:ext cx="4572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25694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8254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省市区地图 · 行业分类 · 大学库 · 职位库 · 简历模板 · 求职攻略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236976"/>
            <a:ext cx="4572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32826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运营工具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538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评分模型训练数据 · 模型版本管理 · LLM工具配置 · 邮件通信群发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950208"/>
            <a:ext cx="4572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39959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监控统计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251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日活/访问量统计 · 服务机器监控 · Prometheus+Grafana 指标体系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1097280"/>
            <a:ext cx="32004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管理助手能力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15000" y="1719072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89320" y="1645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引导式故障诊断与排查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15000" y="20574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989320" y="1984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系统配置与运维指导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2395728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89320" y="23225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数据报表智能解读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734056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989320" y="26609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用户/简历问题快速定位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15000" y="3072384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989320" y="29992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RAG + 工具调用增强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15000" y="3410712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98932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独立对话记忆管理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15000" y="374904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989320" y="36758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管理端专属敏感词过滤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4087368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989320" y="4014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Re2 重读增强理解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6 / 9</a:t>
            </a:r>
            <a:endParaRPr lang="en-US" sz="750" dirty="0"/>
          </a:p>
        </p:txBody>
      </p:sp>
    </p:spTree>
  </p:cSld>
  <p:transition spd="med">
    <p:fade/>
  </p:transition>
  <p:timing>
    <p:tnLst>
      <p:par>
        <p:cTn id="10013" dur="indefinite" restart="never" nodeType="tmRoot">
          <p:childTnLst>
            <p:seq concurrent="1" nextAc="seek">
              <p:cTn id="10014" dur="indefinite" nodeType="mainSeq">
                <p:childTnLst>
                  <p:par>
                    <p:cTn id="10015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1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017" dur="350" fill="hold">
                      <p:stCondLst>
                        <p:cond delay="150"/>
                      </p:stCondLst>
                      <p:childTnLst>
                        <p:animEffect transition="in" filterType="fade">
                          <p:cBhvr>
                            <p:cTn id="10018" dur="3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019" dur="350" fill="hold">
                      <p:stCondLst>
                        <p:cond delay="390"/>
                      </p:stCondLst>
                      <p:childTnLst>
                        <p:animEffect transition="in" filterType="wipe" from="l">
                          <p:cBhvr>
                            <p:cTn id="10020" dur="3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0021" dur="350" fill="hold">
                      <p:stCondLst>
                        <p:cond delay="430"/>
                      </p:stCondLst>
                      <p:childTnLst>
                        <p:animEffect transition="in" filterType="wipe" from="l">
                          <p:cBhvr>
                            <p:cTn id="10022" dur="35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0023" dur="350" fill="hold">
                      <p:stCondLst>
                        <p:cond delay="470"/>
                      </p:stCondLst>
                      <p:childTnLst>
                        <p:animEffect transition="in" filterType="wipe" from="l">
                          <p:cBhvr>
                            <p:cTn id="10024" dur="35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0025" dur="350" fill="hold">
                      <p:stCondLst>
                        <p:cond delay="510"/>
                      </p:stCondLst>
                      <p:childTnLst>
                        <p:animEffect transition="in" filterType="wipe" from="l">
                          <p:cBhvr>
                            <p:cTn id="10026" dur="35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0027" dur="350" fill="hold">
                      <p:stCondLst>
                        <p:cond delay="550"/>
                      </p:stCondLst>
                      <p:childTnLst>
                        <p:animEffect transition="in" filterType="wipe" from="l">
                          <p:cBhvr>
                            <p:cTn id="10028" dur="35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0029" dur="350" fill="hold">
                      <p:stCondLst>
                        <p:cond delay="250"/>
                      </p:stCondLst>
                      <p:childTnLst>
                        <p:animEffect transition="in" filterType="fade">
                          <p:cBhvr>
                            <p:cTn id="10030" dur="35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10031" dur="300" fill="hold">
                      <p:stCondLst>
                        <p:cond delay="795"/>
                      </p:stCondLst>
                      <p:childTnLst>
                        <p:animEffect transition="in" filterType="fade">
                          <p:cBhvr>
                            <p:cTn id="10032" dur="3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10033" dur="300" fill="hold">
                      <p:stCondLst>
                        <p:cond delay="810"/>
                      </p:stCondLst>
                      <p:childTnLst>
                        <p:animEffect transition="in" filterType="fade">
                          <p:cBhvr>
                            <p:cTn id="10034" dur="3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10035" dur="300" fill="hold">
                      <p:stCondLst>
                        <p:cond delay="825"/>
                      </p:stCondLst>
                      <p:childTnLst>
                        <p:animEffect transition="in" filterType="fade">
                          <p:cBhvr>
                            <p:cTn id="10036" dur="3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10037" dur="300" fill="hold">
                      <p:stCondLst>
                        <p:cond delay="840"/>
                      </p:stCondLst>
                      <p:childTnLst>
                        <p:animEffect transition="in" filterType="fade">
                          <p:cBhvr>
                            <p:cTn id="10038" dur="3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10039" dur="300" fill="hold">
                      <p:stCondLst>
                        <p:cond delay="855"/>
                      </p:stCondLst>
                      <p:childTnLst>
                        <p:animEffect transition="in" filterType="fade">
                          <p:cBhvr>
                            <p:cTn id="10040" dur="3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10041" dur="300" fill="hold">
                      <p:stCondLst>
                        <p:cond delay="870"/>
                      </p:stCondLst>
                      <p:childTnLst>
                        <p:animEffect transition="in" filterType="fade">
                          <p:cBhvr>
                            <p:cTn id="10042" dur="3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10043" dur="300" fill="hold">
                      <p:stCondLst>
                        <p:cond delay="885"/>
                      </p:stCondLst>
                      <p:childTnLst>
                        <p:animEffect transition="in" filterType="fade">
                          <p:cBhvr>
                            <p:cTn id="10044" dur="3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10045" dur="300" fill="hold">
                      <p:stCondLst>
                        <p:cond delay="900"/>
                      </p:stCondLst>
                      <p:childTnLst>
                        <p:animEffect transition="in" filterType="fade">
                          <p:cBhvr>
                            <p:cTn id="10046" dur="3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  <p:par>
                    <p:cTn id="10047" dur="300" fill="hold">
                      <p:stCondLst>
                        <p:cond delay="1500"/>
                      </p:stCondLst>
                      <p:childTnLst>
                        <p:animEffect transition="in" filterType="fade">
                          <p:cBhvr>
                            <p:cTn id="10048" dur="3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核心代码实现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思考执行 · 工具调用 · 双安全过滤链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4290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078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ToolCallAgent.java — think() 方法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ToolCallAgent.java — think()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think() {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(getNextStepPrompt() != null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!getNextStepPrompt().isEmpty()){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getMessageList().add(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UserMessage(getNextStepPrompt()));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 prompt = new Prompt(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getMessageList(),chatOptions);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ChatResponse chatResponse =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getChatClient().prompt(prompt)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.system(getSystemPrompt())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.tools(availableTools)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.call().chatResponse();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this.toolCallChatResponse =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chatResponse;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AssistantMessage am =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chatResponse.getResult().getOutput();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List&lt;ToolCall&gt; tcs = am.getToolCalls();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if(tcs.isEmpty()){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getMessageList().add(am);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  // 无需工具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  // 需要执行工具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4160520" cy="34290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54880" y="1078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UserSecurityConfig.java — 双过滤器链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0" y="1298448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Security双链配置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 @EnableWebSecurity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@Order(1)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UserSecurityConfig {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@Bean public SecurityFilterChain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userSecurityFilterChain(HttpSecurity h){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h.securityMatcher("/user/**")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.cors(...)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.csrf(AbstractHttpConfigurer::disable)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.sessionManagement(s-&gt;s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.sessionCreationPolicy(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SessionCreationPolicy.STATELESS))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.authorizeHttpRequests(auth-&gt;auth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.requestMatchers(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"/user/auth/**").permitAll()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.anyRequest().authenticated())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.exceptionHandling(ex-&gt;ex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.authenticationEntryPoint(...))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.addFilterBefore(userJwtAuthFilter,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UsernamePasswordAuthFilter.class);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 h.build();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65760" y="4544568"/>
            <a:ext cx="8412480" cy="201168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45445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以上均来自项目真实源码：ToolCallAgent.java 与 UserSecurityConfig.java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7 / 9</a:t>
            </a:r>
            <a:endParaRPr lang="en-US" sz="750" dirty="0"/>
          </a:p>
        </p:txBody>
      </p:sp>
    </p:spTree>
  </p:cSld>
  <p:transition spd="med">
    <p:push dir="r"/>
  </p:transition>
  <p:timing>
    <p:tnLst>
      <p:par>
        <p:cTn id="10049" dur="indefinite" restart="never" nodeType="tmRoot">
          <p:childTnLst>
            <p:seq concurrent="1" nextAc="seek">
              <p:cTn id="10050" dur="indefinite" nodeType="mainSeq">
                <p:childTnLst>
                  <p:par>
                    <p:cTn id="10051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52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053" dur="400" fill="hold">
                      <p:stCondLst>
                        <p:cond delay="250"/>
                      </p:stCondLst>
                      <p:childTnLst>
                        <p:animEffect transition="in" filterType="wipe" from="l">
                          <p:cBhvr>
                            <p:cTn id="10054" dur="4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0055" dur="400" fill="hold">
                      <p:stCondLst>
                        <p:cond delay="250"/>
                      </p:stCondLst>
                      <p:childTnLst>
                        <p:animEffect transition="in" filterType="wipe" from="l">
                          <p:cBhvr>
                            <p:cTn id="10056" dur="4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0057" dur="400" fill="hold">
                      <p:stCondLst>
                        <p:cond delay="500"/>
                      </p:stCondLst>
                      <p:childTnLst>
                        <p:animEffect transition="in" filterType="wipe" from="r">
                          <p:cBhvr>
                            <p:cTn id="10058" dur="4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0059" dur="400" fill="hold">
                      <p:stCondLst>
                        <p:cond delay="250"/>
                      </p:stCondLst>
                      <p:childTnLst>
                        <p:animEffect transition="in" filterType="wipe" from="l">
                          <p:cBhvr>
                            <p:cTn id="10060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0061" dur="300" fill="hold">
                      <p:stCondLst>
                        <p:cond delay="1200"/>
                      </p:stCondLst>
                      <p:childTnLst>
                        <p:animEffect transition="in" filterType="fade">
                          <p:cBhvr>
                            <p:cTn id="10062" dur="3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未来前景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持续迭代 · 拥抱 AI 前沿 · 打造全链路智能求职生态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143000"/>
            <a:ext cx="2697480" cy="3840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近期 (1-3月)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5760" y="1645920"/>
            <a:ext cx="45720" cy="4937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前端界面开发完成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2212848"/>
            <a:ext cx="45720" cy="4937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SaaS 化改造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2779776"/>
            <a:ext cx="45720" cy="4937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DeepSeek 等更多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5760" y="3346704"/>
            <a:ext cx="45720" cy="4937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简历评分模型上线 (XGBoost)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143000"/>
            <a:ext cx="2697480" cy="38404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9184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中期 (3-6月)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91840" y="1645920"/>
            <a:ext cx="45720" cy="4937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7472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微服务化拆分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91840" y="2212848"/>
            <a:ext cx="45720" cy="4937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7472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全链路可观测性增强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91840" y="2779776"/>
            <a:ext cx="45720" cy="4937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7472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智能岗位匹配推荐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291840" y="3346704"/>
            <a:ext cx="45720" cy="4937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7472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 (小程序)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143000"/>
            <a:ext cx="269748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21792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远期 (6-12月)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217920" y="1645920"/>
            <a:ext cx="45720" cy="4937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协作架构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217920" y="2212848"/>
            <a:ext cx="45720" cy="4937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0080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模拟面试与反馈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217920" y="2779776"/>
            <a:ext cx="45720" cy="4937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0080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企业端 AI 筛选助手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217920" y="3346704"/>
            <a:ext cx="45720" cy="49377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40080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构建求职知识图谱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愿景：成为求职者最信赖的 AI 求职伙伴，用人均 AI 赋能每位求职者找到理想工作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8 / 9</a:t>
            </a:r>
            <a:endParaRPr lang="en-US" sz="750" dirty="0"/>
          </a:p>
        </p:txBody>
      </p:sp>
    </p:spTree>
  </p:cSld>
  <p:transition spd="med">
    <p:cover dir="l"/>
  </p:transition>
  <p:timing>
    <p:tnLst>
      <p:par>
        <p:cTn id="10063" dur="indefinite" restart="never" nodeType="tmRoot">
          <p:childTnLst>
            <p:seq concurrent="1" nextAc="seek">
              <p:cTn id="10064" dur="indefinite" nodeType="mainSeq">
                <p:childTnLst>
                  <p:par>
                    <p:cTn id="10065" dur="400" fill="hold">
                      <p:stCondLst>
                        <p:cond delay="0"/>
                      </p:stCondLst>
                      <p:childTnLst>
                        <p:animEffect transition="in" filterType="fade">
                          <p:cBhvr>
                            <p:cTn id="1006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067" dur="350" fill="hold">
                      <p:stCondLst>
                        <p:cond delay="150"/>
                      </p:stCondLst>
                      <p:childTnLst>
                        <p:animEffect transition="in" filterType="fade">
                          <p:cBhvr>
                            <p:cTn id="10068" dur="3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069" dur="400" fill="hold">
                      <p:stCondLst>
                        <p:cond delay="350"/>
                      </p:stCondLst>
                      <p:childTnLst>
                        <p:animEffect transition="in" filterType="zoom" zoomTransition="in">
                          <p:cBhvr>
                            <p:cTn id="10070" dur="4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0071" dur="400" fill="hold">
                      <p:stCondLst>
                        <p:cond delay="650"/>
                      </p:stCondLst>
                      <p:childTnLst>
                        <p:animEffect transition="in" filterType="zoom" zoomTransition="in">
                          <p:cBhvr>
                            <p:cTn id="10072" dur="4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0073" dur="400" fill="hold">
                      <p:stCondLst>
                        <p:cond delay="950"/>
                      </p:stCondLst>
                      <p:childTnLst>
                        <p:animEffect transition="in" filterType="zoom" zoomTransition="in">
                          <p:cBhvr>
                            <p:cTn id="10074" dur="4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10075" dur="500" fill="hold">
                      <p:stCondLst>
                        <p:cond delay="1400"/>
                      </p:stCondLst>
                      <p:childTnLst>
                        <p:animEffect transition="in" filterType="fade">
                          <p:cBhvr>
                            <p:cTn id="10076" dur="5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  <p:par>
                    <p:cTn id="10077" dur="300" fill="hold">
                      <p:stCondLst>
                        <p:cond delay="1800"/>
                      </p:stCondLst>
                      <p:childTnLst>
                        <p:animEffect transition="in" filterType="fade">
                          <p:cBhvr>
                            <p:cTn id="10078" dur="3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0" y="5070348"/>
            <a:ext cx="2743200" cy="0"/>
          </a:xfrm>
          <a:prstGeom prst="line">
            <a:avLst/>
          </a:prstGeom>
          <a:noFill/>
          <a:ln w="635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致  谢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657600" y="1828800"/>
            <a:ext cx="18288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210312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感谢各位老师和同学对 EasyApplyResume 项目的关注与支持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本项目基于 Spring AI 生态，探索了 AI Agent 在求职领域的应用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从自研 ReAct Agent 到 RAG 增强检索，从多模型适配到工具集成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这是一次将前沿 AI 技术与实际业务场景结合的有益尝试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· Spring AI · MyBatis-Plus · PgVector · Redis · Nacos · Docker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AI模型：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· 智谱AI (GLM-4) · 豆包 · Ollama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shining_cloud2025@163.com  |  github.com/shiningCloud2025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9 / 9</a:t>
            </a:r>
            <a:endParaRPr lang="en-US" sz="750" dirty="0"/>
          </a:p>
        </p:txBody>
      </p:sp>
    </p:spTree>
  </p:cSld>
  <p:transition spd="med">
    <p:dissolve/>
  </p:transition>
  <p:timing>
    <p:tnLst>
      <p:par>
        <p:cTn id="10079" dur="indefinite" restart="never" nodeType="tmRoot">
          <p:childTnLst>
            <p:seq concurrent="1" nextAc="seek">
              <p:cTn id="10080" dur="indefinite" nodeType="mainSeq">
                <p:childTnLst>
                  <p:par>
                    <p:cTn id="10081" dur="700" fill="hold">
                      <p:stCondLst>
                        <p:cond delay="100"/>
                      </p:stCondLst>
                      <p:childTnLst>
                        <p:animEffect transition="in" filterType="zoom" zoomTransition="in">
                          <p:cBhvr>
                            <p:cTn id="10082" dur="7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083" dur="500" fill="hold">
                      <p:stCondLst>
                        <p:cond delay="600"/>
                      </p:stCondLst>
                      <p:childTnLst>
                        <p:animEffect transition="in" filterType="fade">
                          <p:cBhvr>
                            <p:cTn id="10084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0085" dur="300" fill="hold">
                      <p:stCondLst>
                        <p:cond delay="1800"/>
                      </p:stCondLst>
                      <p:childTnLst>
                        <p:animEffect transition="in" filterType="fade">
                          <p:cBhvr>
                            <p:cTn id="10086" dur="3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EasyApplyResume</dc:title>
  <dc:subject>PptxGenJS Presentation</dc:subject>
  <dc:creator>shiningCloud2025</dc:creator>
  <cp:lastModifiedBy>shiningCloud2025</cp:lastModifiedBy>
  <cp:revision>1</cp:revision>
  <dcterms:created xsi:type="dcterms:W3CDTF">2026-06-06T08:20:57Z</dcterms:created>
  <dcterms:modified xsi:type="dcterms:W3CDTF">2026-06-06T08:20:57Z</dcterms:modified>
</cp:coreProperties>
</file>