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0"/>
            <a:ext cx="54864" cy="2286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EasyApplyResume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284C7"/>
                </a:solidFill>
                <a:latin typeface="Trebuchet MS"/>
              </a:defRPr>
            </a:pPr>
            <a:r>
              <a:t>基于SpringAI和机器学习的智能简历平台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840480"/>
            <a:ext cx="4572000" cy="18288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基于AI+机器学习驱动的智能求职与管理平台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F172A"/>
                </a:solidFill>
                <a:latin typeface="Trebuchet MS"/>
              </a:defRPr>
            </a:pPr>
            <a:r>
              <a:t>答辩人：赵云翰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项目背景与痛点深度分析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2/9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4864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20040" tIns="274320"/>
          <a:lstStyle/>
          <a:p>
            <a:pPr algn="ctr">
              <a:spcAft>
                <a:spcPts val="1600"/>
              </a:spcAft>
              <a:defRPr sz="2400" b="1">
                <a:solidFill>
                  <a:srgbClr val="0284C7"/>
                </a:solidFill>
                <a:latin typeface="Trebuchet MS"/>
              </a:defRPr>
            </a:pPr>
            <a:r>
              <a:t>01 求职市场的严峻现状</a:t>
            </a:r>
          </a:p>
          <a:p>
            <a:r>
              <a:rPr sz="1300">
                <a:solidFill>
                  <a:srgbClr val="64748B"/>
                </a:solidFill>
                <a:latin typeface="Calibri"/>
              </a:rPr>
              <a:t>2025届全国高校毕业生规模预测达 </a:t>
            </a:r>
            <a:r>
              <a:rPr sz="3200" b="1">
                <a:solidFill>
                  <a:srgbClr val="0284C7"/>
                </a:solidFill>
                <a:latin typeface="Trebuchet MS"/>
              </a:rPr>
              <a:t>1222 万</a:t>
            </a:r>
            <a:r>
              <a:rPr sz="1300">
                <a:solidFill>
                  <a:srgbClr val="64748B"/>
                </a:solidFill>
                <a:latin typeface="Calibri"/>
              </a:rPr>
              <a:t> 人，竞争空前激烈。</a:t>
            </a:r>
          </a:p>
          <a:p>
            <a:pPr>
              <a:spcBef>
                <a:spcPts val="1800"/>
              </a:spcBef>
            </a:pPr>
            <a:r>
              <a:rPr sz="1300" b="1">
                <a:solidFill>
                  <a:srgbClr val="0284C7"/>
                </a:solidFill>
                <a:latin typeface="Trebuchet MS"/>
              </a:rPr>
              <a:t>▸ 简历竞争力不透明：</a:t>
            </a:r>
            <a:r>
              <a:rPr sz="1200">
                <a:solidFill>
                  <a:srgbClr val="64748B"/>
                </a:solidFill>
                <a:latin typeface="Calibri"/>
              </a:rPr>
              <a:t>缺乏专业的量化分析与针对性的优化建议，难以突出个人优势。</a:t>
            </a:r>
          </a:p>
          <a:p>
            <a:pPr>
              <a:spcBef>
                <a:spcPts val="1800"/>
              </a:spcBef>
            </a:pPr>
            <a:r>
              <a:rPr sz="1300" b="1">
                <a:solidFill>
                  <a:srgbClr val="0284C7"/>
                </a:solidFill>
                <a:latin typeface="Trebuchet MS"/>
              </a:rPr>
              <a:t>▸ 咨询服务响应滞后：</a:t>
            </a:r>
            <a:r>
              <a:rPr sz="1200">
                <a:solidFill>
                  <a:srgbClr val="64748B"/>
                </a:solidFill>
                <a:latin typeface="Calibri"/>
              </a:rPr>
              <a:t>专业顾问服务供需严重失衡，信息传递存在壁垒，反馈不及时。</a:t>
            </a:r>
          </a:p>
          <a:p>
            <a:pPr>
              <a:spcBef>
                <a:spcPts val="1800"/>
              </a:spcBef>
            </a:pPr>
            <a:r>
              <a:rPr sz="1300" b="1">
                <a:solidFill>
                  <a:srgbClr val="0284C7"/>
                </a:solidFill>
                <a:latin typeface="Trebuchet MS"/>
              </a:rPr>
              <a:t>▸ 笔试准备缺乏资源：</a:t>
            </a:r>
            <a:r>
              <a:rPr sz="1200">
                <a:solidFill>
                  <a:srgbClr val="64748B"/>
                </a:solidFill>
                <a:latin typeface="Calibri"/>
              </a:rPr>
              <a:t>缺乏行业真实题库与场景化模拟，导致备考效率低、实战能力弱。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51560"/>
            <a:ext cx="5303520" cy="502920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20040" tIns="274320"/>
          <a:lstStyle/>
          <a:p>
            <a:pPr algn="ctr">
              <a:spcAft>
                <a:spcPts val="2400"/>
              </a:spcAft>
              <a:defRPr sz="2400" b="1">
                <a:solidFill>
                  <a:srgbClr val="0284C7"/>
                </a:solidFill>
                <a:latin typeface="Trebuchet MS"/>
              </a:defRPr>
            </a:pPr>
            <a:r>
              <a:t>02 核心使命</a:t>
            </a:r>
          </a:p>
          <a:p>
            <a:pPr>
              <a:lnSpc>
                <a:spcPts val="2800"/>
              </a:lnSpc>
              <a:spcAft>
                <a:spcPts val="2400"/>
              </a:spcAft>
              <a:defRPr sz="1400">
                <a:solidFill>
                  <a:srgbClr val="0F172A"/>
                </a:solidFill>
                <a:latin typeface="Calibri"/>
              </a:defRPr>
            </a:pPr>
            <a:r>
              <a:t>利用人工智能技术结合海量人工收集的行业数据，彻底打破求职过程中的信息差，打造高效、透明、专业的一站式解决方案。</a:t>
            </a:r>
          </a:p>
          <a:p>
            <a:pPr>
              <a:spcBef>
                <a:spcPts val="1400"/>
              </a:spcBef>
            </a:pPr>
            <a:r>
              <a:rPr sz="1300" b="1">
                <a:solidFill>
                  <a:srgbClr val="0284C7"/>
                </a:solidFill>
                <a:latin typeface="Trebuchet MS"/>
              </a:rPr>
              <a:t>▸ 简历量化评估：</a:t>
            </a:r>
            <a:r>
              <a:rPr sz="1100">
                <a:solidFill>
                  <a:srgbClr val="64748B"/>
                </a:solidFill>
                <a:latin typeface="Calibri"/>
              </a:rPr>
              <a:t>基于机器学习模型对简历内容进行多维度量化评分，精准匹配岗位需求，大幅提升简历投递的针对性与通过率。</a:t>
            </a:r>
          </a:p>
          <a:p>
            <a:pPr>
              <a:spcBef>
                <a:spcPts val="1400"/>
              </a:spcBef>
            </a:pPr>
            <a:r>
              <a:rPr sz="1300" b="1">
                <a:solidFill>
                  <a:srgbClr val="0284C7"/>
                </a:solidFill>
                <a:latin typeface="Trebuchet MS"/>
              </a:rPr>
              <a:t>▸ 智能交互咨询：</a:t>
            </a:r>
            <a:r>
              <a:rPr sz="1100">
                <a:solidFill>
                  <a:srgbClr val="64748B"/>
                </a:solidFill>
                <a:latin typeface="Calibri"/>
              </a:rPr>
              <a:t>构建具备深度行业语义理解能力的 AI 问答系统，提供 24/7 实时咨询服务，打破传统顾问服务的时间与成本壁垒。</a:t>
            </a:r>
          </a:p>
          <a:p>
            <a:pPr>
              <a:spcBef>
                <a:spcPts val="1400"/>
              </a:spcBef>
            </a:pPr>
            <a:r>
              <a:rPr sz="1300" b="1">
                <a:solidFill>
                  <a:srgbClr val="0284C7"/>
                </a:solidFill>
                <a:latin typeface="Trebuchet MS"/>
              </a:rPr>
              <a:t>▸ 全流程实战演练：</a:t>
            </a:r>
            <a:r>
              <a:rPr sz="1100">
                <a:solidFill>
                  <a:srgbClr val="64748B"/>
                </a:solidFill>
                <a:latin typeface="Calibri"/>
              </a:rPr>
              <a:t>打造高度仿真的笔试模拟与岗位实训环境，通过实战反馈辅助职业决策，补齐求职准备的最后一块短板。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技术选型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3/9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3474720" cy="457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基础框架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Spring Boot 3.3.5 + Java 21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Spring Security 双链认证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548640" y="283464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MyBatis-Plus 3.5.7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548640" y="333756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Nacos 配置中心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4297679" y="1097280"/>
            <a:ext cx="3474720" cy="45720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19" y="1097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AI &amp; LLM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182880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Spring AI 多模型适配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5" name="Rounded Rectangle 14"/>
          <p:cNvSpPr/>
          <p:nvPr/>
        </p:nvSpPr>
        <p:spPr>
          <a:xfrm>
            <a:off x="4297679" y="233172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ReAct Agent 智能体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4297679" y="283464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RAG 检索增强生成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7" name="Rounded Rectangle 16"/>
          <p:cNvSpPr/>
          <p:nvPr/>
        </p:nvSpPr>
        <p:spPr>
          <a:xfrm>
            <a:off x="4297679" y="333756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DashScope / 智谱 / Ollama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8" name="Rectangle 17"/>
          <p:cNvSpPr/>
          <p:nvPr/>
        </p:nvSpPr>
        <p:spPr>
          <a:xfrm>
            <a:off x="8046719" y="1097280"/>
            <a:ext cx="3474720" cy="457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59" y="1097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数据与存储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182880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MySQL + PostgreSQL / PgVector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21" name="Rounded Rectangle 20"/>
          <p:cNvSpPr/>
          <p:nvPr/>
        </p:nvSpPr>
        <p:spPr>
          <a:xfrm>
            <a:off x="8046719" y="233172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Redis 缓存 &amp; 消息通知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22" name="Rounded Rectangle 21"/>
          <p:cNvSpPr/>
          <p:nvPr/>
        </p:nvSpPr>
        <p:spPr>
          <a:xfrm>
            <a:off x="8046719" y="283464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MinIO / 七牛云 OSS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23" name="Rounded Rectangle 22"/>
          <p:cNvSpPr/>
          <p:nvPr/>
        </p:nvSpPr>
        <p:spPr>
          <a:xfrm>
            <a:off x="8046719" y="333756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Docker 容器化部署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AI 智能体架构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4/9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BaseAgent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LLM 调用 · 记忆管理 · 基础抽象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ReActAgent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思考 → 行动 → 观察循环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404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EA580C"/>
                </a:solidFill>
                <a:latin typeface="Trebuchet MS"/>
              </a:defRPr>
            </a:pPr>
            <a:r>
              <a:t>ToolCallAgent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工具注册 · Function Calling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Trebuchet MS"/>
              </a:defRPr>
            </a:pPr>
            <a:r>
              <a:t>核心组件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RAG 知识库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PgVector + 云知识库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441448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工具调用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Web搜索 · 终端 · 文件 · PDF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191256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对话记忆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MySQL 持久化 + 内存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41064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7C3AED"/>
                </a:solidFill>
                <a:latin typeface="Trebuchet MS"/>
              </a:defRPr>
            </a:pPr>
            <a:r>
              <a:t>安全过滤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敏感词 · 权限控制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690872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MCP 客户端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多协议工具集成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5440679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流式输出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SSE 实时对话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C端 — 简历AI助手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5/9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智能简历润色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AI 分析并优化简历</a:t>
            </a:r>
            <a:br/>
            <a:r>
              <a:t>自动调整措辞与排版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定制化建议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根据目标 JD 提供</a:t>
            </a:r>
            <a:br/>
            <a:r>
              <a:t>针对性修改方案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EA580C"/>
                </a:solidFill>
                <a:latin typeface="Trebuchet MS"/>
              </a:defRPr>
            </a:pPr>
            <a:r>
              <a:t>RAG 增强检索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向量数据库匹配</a:t>
            </a:r>
            <a:br/>
            <a:r>
              <a:t>精准推荐行业知识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7C3AED"/>
                </a:solidFill>
                <a:latin typeface="Trebuchet MS"/>
              </a:defRPr>
            </a:pPr>
            <a:r>
              <a:t>工具调用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Web搜索 · PDF生成</a:t>
            </a:r>
            <a:br/>
            <a:r>
              <a:t>邮件发送 · 文件操作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流式对话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SSE 实时响应</a:t>
            </a:r>
            <a:br/>
            <a:r>
              <a:t>打字机效果呈现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生态服务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MinIO / 七牛云存储</a:t>
            </a:r>
            <a:br/>
            <a:r>
              <a:t>多行业模板支持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B端 — 系统管理助手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6/9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用户管理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注册/登录 · 权限分配 · 角色控制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75688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简历模板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行业模板 CRUD · 启用/禁用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99816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题库管理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题目增删改查 · 分类与难度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123944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FAQ管理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常见问题维护 · 内容审核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148072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使用指南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手册编辑 · 图文发布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051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AI 管理能力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智能数据统计与分析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自动化运营建议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异常行为检测预警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智能问答辅助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内容自动审核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批量操作自动化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日志诊断分析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D端 — 数据与监控平台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7/9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实时访问监控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日活/总访问量追踪</a:t>
            </a:r>
            <a:br/>
            <a:r>
              <a:t>C端/B端多维数据看板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09728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广告投放管理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广告上下架与排期</a:t>
            </a:r>
            <a:br/>
            <a:r>
              <a:t>用户端展示效果追踪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49039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EA580C"/>
                </a:solidFill>
                <a:latin typeface="Trebuchet MS"/>
              </a:defRPr>
            </a:pPr>
            <a:r>
              <a:t>服务机器监控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SSH 远程连接管理</a:t>
            </a:r>
            <a:br/>
            <a:r>
              <a:t>健康检测与实时告警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3749039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7C3AED"/>
                </a:solidFill>
                <a:latin typeface="Trebuchet MS"/>
              </a:defRPr>
            </a:pPr>
            <a:r>
              <a:t>智能数据报表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Prometheus 指标采集</a:t>
            </a:r>
            <a:br/>
            <a:r>
              <a:t>Grafana 大屏可视化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未来前景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8/9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近期目标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完善多Agent协作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优化RAG效果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扩展行业模板库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D948F"/>
                </a:solidFill>
                <a:latin typeface="Trebuchet MS"/>
              </a:defRPr>
            </a:pPr>
            <a:r>
              <a:t>中期规划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上线移动端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接入更多LLM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开放API生态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EA580C"/>
                </a:solidFill>
                <a:latin typeface="Trebuchet MS"/>
              </a:defRPr>
            </a:pPr>
            <a:r>
              <a:t>远期愿景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全链路AI求职平台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从简历到入职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智能闭环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让每个人都能找到理想的工作 — AI 赋能求职全流程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9/9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1828800"/>
            <a:ext cx="2133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284C7"/>
                </a:solidFill>
                <a:latin typeface="Trebuchet MS"/>
              </a:defRPr>
            </a:pPr>
            <a:r>
              <a:t>EasyApplyResume — AI 驱动的智能求职与管理平台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Spring Boot · Spring AI · MyBatis-Plus · Redis · PostgreSQL · React ·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shiningCloud2025 © 2026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