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EasyApplyResume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28600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易投简历 — AI 智能求职与简历管理平台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· ReAct Agent · RAG · 多模型集成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+ MySQL + PostgreSQL + Redis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+ DashScope + 智谱AI + 豆包 + Ollama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Nacos + Spring Boot Admin + Prometheus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shiningCloud2025 | 2026年6月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1 / 9</a:t>
            </a:r>
            <a:endParaRPr lang="en-US" sz="750" dirty="0"/>
          </a:p>
        </p:txBody>
      </p:sp>
    </p:spTree>
  </p:cSld>
  <p:transition spd="med">
    <p:fade/>
  </p:transition>
  <p:timing>
    <p:tnLst>
      <p:par>
        <p:cTn id="9901" dur="indefinite" restart="never" nodeType="tmRoot">
          <p:childTnLst>
            <p:seq concurrent="1" nextAc="seek">
              <p:cTn id="9902" dur="indefinite" nodeType="mainSeq">
                <p:childTnLst>
                  <p:par>
                    <p:cTn id="9903" dur="8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9904" dur="8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905" dur="6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06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9907" dur="500" fill="hold">
                      <p:stCondLst>
                        <p:cond delay="0"/>
                      </p:stCondLst>
                      <p:childTnLst>
                        <p:animEffect transition="in" filterType="float" from="t">
                          <p:cBhvr>
                            <p:cTn id="9908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9909" dur="500" fill="hold">
                      <p:stCondLst>
                        <p:cond delay="0"/>
                      </p:stCondLst>
                      <p:childTnLst>
                        <p:animEffect transition="in" filterType="float" from="t">
                          <p:cBhvr>
                            <p:cTn id="9910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9911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12" dur="4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问题背景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当前求职市场的核心痛点与 AI 破局之道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09728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097280"/>
            <a:ext cx="45720" cy="15727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2344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简历制作低效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缺乏专业指导，简历内容空洞、结构混乱、表达不专业，严重影响面试邀约率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5720" cy="15727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0" y="12344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求职信息不对称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难以获取全面职位信息、行业动态和公司评价，缺乏有效决策依据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8640" y="2880360"/>
            <a:ext cx="45720" cy="157276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301752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管理者运营负担重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429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HR和管理员面临大量重复性简历筛选、用户管理、数据统计，效率低下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45720" cy="157276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0" y="301752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缺乏个性化服务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429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传统平台千篇一律，无法根据个人背景和目标岗位提供量身定制优化建议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219456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457200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核心思路：基于 Spring AI 生态，构建 AI Agent 驱动的智能求职助手，实现简历优化、智能问答、自动化运营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2 / 9</a:t>
            </a:r>
            <a:endParaRPr lang="en-US" sz="750" dirty="0"/>
          </a:p>
        </p:txBody>
      </p:sp>
    </p:spTree>
  </p:cSld>
  <p:transition spd="med">
    <p:push dir="l"/>
  </p:transition>
  <p:timing>
    <p:tnLst>
      <p:par>
        <p:cTn id="9913" dur="indefinite" restart="never" nodeType="tmRoot">
          <p:childTnLst>
            <p:seq concurrent="1" nextAc="seek">
              <p:cTn id="9914" dur="indefinite" nodeType="mainSeq">
                <p:childTnLst>
                  <p:par>
                    <p:cTn id="9915" dur="5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16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917" dur="400" fill="hold">
                      <p:stCondLst>
                        <p:cond delay="0"/>
                      </p:stCondLst>
                      <p:childTnLst>
                        <p:animEffect transition="in" filterType="float" from="t">
                          <p:cBhvr>
                            <p:cTn id="9918" dur="4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919" dur="500" fill="hold">
                      <p:stCondLst>
                        <p:cond delay="0"/>
                      </p:stCondLst>
                      <p:childTnLst>
                        <p:animEffect transition="in" filterType="fly" from="l">
                          <p:cBhvr>
                            <p:cTn id="9920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9921" dur="35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22" dur="35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9923" dur="500" fill="hold">
                      <p:stCondLst>
                        <p:cond delay="0"/>
                      </p:stCondLst>
                      <p:childTnLst>
                        <p:animEffect transition="in" filterType="fly" from="r">
                          <p:cBhvr>
                            <p:cTn id="9924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925" dur="35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26" dur="35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9927" dur="500" fill="hold">
                      <p:stCondLst>
                        <p:cond delay="0"/>
                      </p:stCondLst>
                      <p:childTnLst>
                        <p:animEffect transition="in" filterType="fly" from="l">
                          <p:cBhvr>
                            <p:cTn id="9928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9929" dur="35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30" dur="35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9931" dur="500" fill="hold">
                      <p:stCondLst>
                        <p:cond delay="0"/>
                      </p:stCondLst>
                      <p:childTnLst>
                        <p:animEffect transition="in" filterType="fly" from="r">
                          <p:cBhvr>
                            <p:cTn id="9932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9933" dur="35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34" dur="35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9935" dur="40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9936" dur="4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技术选型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微服务架构，多层次 AI 能力集成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43000"/>
            <a:ext cx="2697480" cy="3657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基础框架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16276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(Java 21)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" y="21214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 3.5.7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" y="26151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1792" y="31089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 配置/服务发现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1792" y="36027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容器化部署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1143000"/>
            <a:ext cx="269748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8328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LLM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1627632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547872" y="16276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1.0.0-M6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2121408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547872" y="21214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(DashScope)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2615184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547872" y="26151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智谱AI (GLM-4)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3108960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547872" y="31089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 (OpenAI协议)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602736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547872" y="36027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本地模型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1143000"/>
            <a:ext cx="269748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0936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数据与存储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1627632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73952" y="16276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(主库)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2121408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73952" y="21214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2615184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73952" y="26151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(缓存/JWT)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3108960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73952" y="31089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七牛云 OSS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3602736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73952" y="36027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Redis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57200" y="3931920"/>
            <a:ext cx="45720" cy="4572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85800" y="3950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能力矩阵：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· RAG 检索增强 · MCP 客户端 · 多模型适配 · 向量数据库 · Function Calling · 对话记忆 · 敏感词过滤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3 / 9</a:t>
            </a:r>
            <a:endParaRPr lang="en-US" sz="750" dirty="0"/>
          </a:p>
        </p:txBody>
      </p:sp>
    </p:spTree>
  </p:cSld>
  <p:transition spd="med">
    <p:cover dir="r"/>
  </p:transition>
  <p:timing>
    <p:tnLst>
      <p:par>
        <p:cTn id="9937" dur="indefinite" restart="never" nodeType="tmRoot">
          <p:childTnLst>
            <p:seq concurrent="1" nextAc="seek">
              <p:cTn id="9938" dur="indefinite" nodeType="mainSeq">
                <p:childTnLst>
                  <p:par>
                    <p:cTn id="9939" dur="5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40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941" dur="400" fill="hold">
                      <p:stCondLst>
                        <p:cond delay="0"/>
                      </p:stCondLst>
                      <p:childTnLst>
                        <p:animEffect transition="in" filterType="float" from="t">
                          <p:cBhvr>
                            <p:cTn id="9942" dur="4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943" dur="500" fill="hold">
                      <p:stCondLst>
                        <p:cond delay="0"/>
                      </p:stCondLst>
                      <p:childTnLst>
                        <p:animEffect transition="in" filterType="wipe" from="t">
                          <p:cBhvr>
                            <p:cTn id="9944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9945" dur="400" fill="hold">
                      <p:stCondLst>
                        <p:cond delay="0"/>
                      </p:stCondLst>
                      <p:childTnLst>
                        <p:animEffect transition="in" filterType="float" from="t">
                          <p:cBhvr>
                            <p:cTn id="9946" dur="4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9947" dur="500" fill="hold">
                      <p:stCondLst>
                        <p:cond delay="0"/>
                      </p:stCondLst>
                      <p:childTnLst>
                        <p:animEffect transition="in" filterType="wipe" from="t">
                          <p:cBhvr>
                            <p:cTn id="9948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9949" dur="4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9950" dur="4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9951" dur="500" fill="hold">
                      <p:stCondLst>
                        <p:cond delay="0"/>
                      </p:stCondLst>
                      <p:childTnLst>
                        <p:animEffect transition="in" filterType="wipe" from="t">
                          <p:cBhvr>
                            <p:cTn id="9952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9953" dur="4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9954" dur="4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9955" dur="5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56" dur="5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智能体架构设计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 ReAct Agent 模式：思考 → 行动循环 + 工具调用 + RAG 增强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09728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继承体系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2743200" cy="6583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34440" y="1682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9751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 · 步骤循环 · 流式SSE · 资源清理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06040" y="2304288"/>
            <a:ext cx="0" cy="3931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51560" y="2697480"/>
            <a:ext cx="3108960" cy="65836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51560" y="2734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0266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&amp; Act 模式 · 思考-行动循环 · 步骤编排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06040" y="3355848"/>
            <a:ext cx="0" cy="3931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68680" y="3749040"/>
            <a:ext cx="3474720" cy="658368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ToolCallAgent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0782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工具调用管理 · 对话上下文 · 终止判断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92040" y="1097280"/>
            <a:ext cx="3794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74920" y="1170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核心组件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6459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074920" y="1645920"/>
            <a:ext cx="45720" cy="40233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03520" y="16733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ChatMemory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0" y="18562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MySQL+内存混合持久化，多轮对话上下文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74920" y="21031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074920" y="2103120"/>
            <a:ext cx="45720" cy="40233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03520" y="21305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Advisor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0" y="23134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PgVector向量库+云知识库+查询重写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74920" y="25603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074920" y="2560320"/>
            <a:ext cx="45720" cy="40233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03520" y="25877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(8个)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0" y="27706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网页搜索·终端操作·文件管理·PDF·邮件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74920" y="30175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074920" y="3017520"/>
            <a:ext cx="45720" cy="40233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303520" y="3044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敏感词过滤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3520" y="32278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双端Advisor，覆盖百种违规类型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074920" y="34747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074920" y="3474720"/>
            <a:ext cx="45720" cy="40233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303520" y="35021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Client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03520" y="36850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Stdio/SSE协议工具集成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74920" y="39319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074920" y="3931920"/>
            <a:ext cx="45720" cy="40233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303520" y="39593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Router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3520" y="41422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DashScope/智谱/豆包/Ollama自由切换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1520" y="45262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ResumeAssistantAgent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C端助手　　　</a:t>
            </a:r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SystemAssistantAgent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B端助手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4 / 9</a:t>
            </a:r>
            <a:endParaRPr lang="en-US" sz="750" dirty="0"/>
          </a:p>
        </p:txBody>
      </p:sp>
    </p:spTree>
  </p:cSld>
  <p:transition spd="med">
    <p:wipe dir="l"/>
  </p:transition>
  <p:timing>
    <p:tnLst>
      <p:par>
        <p:cTn id="9957" dur="indefinite" restart="never" nodeType="tmRoot">
          <p:childTnLst>
            <p:seq concurrent="1" nextAc="seek">
              <p:cTn id="9958" dur="indefinite" nodeType="mainSeq">
                <p:childTnLst>
                  <p:par>
                    <p:cTn id="9959" dur="5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60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961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62" dur="4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9963" dur="500" fill="hold">
                      <p:stCondLst>
                        <p:cond delay="0"/>
                      </p:stCondLst>
                      <p:childTnLst>
                        <p:animEffect transition="in" filterType="fly" from="b">
                          <p:cBhvr>
                            <p:cTn id="996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9965" dur="500" fill="hold">
                      <p:stCondLst>
                        <p:cond delay="0"/>
                      </p:stCondLst>
                      <p:childTnLst>
                        <p:animEffect transition="in" filterType="fly" from="b">
                          <p:cBhvr>
                            <p:cTn id="9966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9967" dur="500" fill="hold">
                      <p:stCondLst>
                        <p:cond delay="0"/>
                      </p:stCondLst>
                      <p:childTnLst>
                        <p:animEffect transition="in" filterType="fly" from="b">
                          <p:cBhvr>
                            <p:cTn id="9968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9969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70" dur="4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9971" dur="40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9972" dur="4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9973" dur="40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9974" dur="4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9975" dur="40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9976" dur="4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9977" dur="40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9978" dur="4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9979" dur="40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9980" dur="4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  <p:par>
                    <p:cTn id="9981" dur="40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9982" dur="4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  <p:par>
                    <p:cTn id="9983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84" dur="4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核心功能：C端 — AI 简历助手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面向求职者的全流程 AI 辅助：从简历优化到求职决策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09728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9728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2344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智能简历润色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语法优化 · 专业表达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结构重组 · 量化成果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STAR法则改写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20440" y="12344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定制化建议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按行业/岗位定制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保研/留学场景适配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多版本输出 · 关键词优化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0" y="12344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知识增强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向量库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云知识库检索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查询重写 · 实时行业数据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297180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31089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工具调用能力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联网搜索职位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简历PDF生成 · 邮件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文件下载 · 网页抓取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97180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337560" y="297180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520440" y="31089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流式对话体验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35204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SSE实时流式输出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多轮上下文记忆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混合持久化 · 敏感词过滤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217920" y="297180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0" y="31089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求职生态服务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5204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职位浏览/收藏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简历模板 · 面试题库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行业资讯 · 地区数据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5 / 9</a:t>
            </a:r>
            <a:endParaRPr lang="en-US" sz="750" dirty="0"/>
          </a:p>
        </p:txBody>
      </p:sp>
    </p:spTree>
  </p:cSld>
  <p:transition spd="med">
    <p:uncover dir="d"/>
  </p:transition>
  <p:timing>
    <p:tnLst>
      <p:par>
        <p:cTn id="9985" dur="indefinite" restart="never" nodeType="tmRoot">
          <p:childTnLst>
            <p:seq concurrent="1" nextAc="seek">
              <p:cTn id="9986" dur="indefinite" nodeType="mainSeq">
                <p:childTnLst>
                  <p:par>
                    <p:cTn id="9987" dur="5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88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989" dur="400" fill="hold">
                      <p:stCondLst>
                        <p:cond delay="0"/>
                      </p:stCondLst>
                      <p:childTnLst>
                        <p:animEffect transition="in" filterType="float" from="t">
                          <p:cBhvr>
                            <p:cTn id="9990" dur="4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991" dur="45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9992" dur="45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9993" dur="35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94" dur="35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9995" dur="45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9996" dur="45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997" dur="35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98" dur="35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9999" dur="45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000" dur="45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0001" dur="35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10002" dur="35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0003" dur="45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004" dur="45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0005" dur="35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10006" dur="35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0007" dur="45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008" dur="4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0009" dur="35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10010" dur="35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10011" dur="45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012" dur="45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10013" dur="35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10014" dur="35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核心功能：B端 — AI 系统管理助手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面向管理员的 AI 运维辅助：权限管理 · 内容运营 · 数据监控 · 智能诊断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097280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97280"/>
            <a:ext cx="45720" cy="6217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1430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管理员管理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3990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增删改查 · RBAC角色权限 · 账户状态管理 · 登录日志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810512"/>
            <a:ext cx="45720" cy="6217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18562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内容运营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1122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公告/广告管理 · FAQ问答库 · 项目/团队介绍 · 合作伙伴 · 媒体报道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523744"/>
            <a:ext cx="45720" cy="6217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25694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8254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省市区地图 · 行业分类 · 大学库 · 职位库 · 简历模板 · 求职攻略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236976"/>
            <a:ext cx="45720" cy="6217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32826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运营工具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5387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评分模型训练数据 · 模型版本管理 · LLM工具配置 · 邮件通信群发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50208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950208"/>
            <a:ext cx="45720" cy="6217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39959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监控统计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2519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日活/访问量统计 · 服务机器监控 · Prometheus+Grafana 指标体系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1097280"/>
            <a:ext cx="32004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管理助手能力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15000" y="1719072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989320" y="16459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引导式故障诊断与排查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15000" y="20574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989320" y="19842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系统配置与运维指导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15000" y="2395728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989320" y="23225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数据报表智能解读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2734056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989320" y="26609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用户/简历问题快速定位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15000" y="3072384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989320" y="29992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RAG + 工具调用增强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15000" y="3410712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989320" y="3337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独立对话记忆管理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15000" y="374904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989320" y="36758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管理端专属敏感词过滤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15000" y="4087368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989320" y="4014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Re2 重读增强理解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6 / 9</a:t>
            </a:r>
            <a:endParaRPr lang="en-US" sz="750" dirty="0"/>
          </a:p>
        </p:txBody>
      </p:sp>
    </p:spTree>
  </p:cSld>
  <p:transition spd="med">
    <p:fade/>
  </p:transition>
  <p:timing>
    <p:tnLst>
      <p:par>
        <p:cTn id="10015" dur="indefinite" restart="never" nodeType="tmRoot">
          <p:childTnLst>
            <p:seq concurrent="1" nextAc="seek">
              <p:cTn id="10016" dur="indefinite" nodeType="mainSeq">
                <p:childTnLst>
                  <p:par>
                    <p:cTn id="10017" dur="5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10018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019" dur="400" fill="hold">
                      <p:stCondLst>
                        <p:cond delay="0"/>
                      </p:stCondLst>
                      <p:childTnLst>
                        <p:animEffect transition="in" filterType="float" from="t">
                          <p:cBhvr>
                            <p:cTn id="10020" dur="4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0021" dur="45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10022" dur="45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0023" dur="45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10024" dur="45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0025" dur="45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10026" dur="45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0027" dur="45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10028" dur="45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0029" dur="45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10030" dur="4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0031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10032" dur="4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10033" dur="350" fill="hold">
                      <p:stCondLst>
                        <p:cond delay="0"/>
                      </p:stCondLst>
                      <p:childTnLst>
                        <p:animEffect transition="in" filterType="fly" from="r">
                          <p:cBhvr>
                            <p:cTn id="10034" dur="35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10035" dur="350" fill="hold">
                      <p:stCondLst>
                        <p:cond delay="0"/>
                      </p:stCondLst>
                      <p:childTnLst>
                        <p:animEffect transition="in" filterType="fly" from="r">
                          <p:cBhvr>
                            <p:cTn id="10036" dur="35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10037" dur="350" fill="hold">
                      <p:stCondLst>
                        <p:cond delay="0"/>
                      </p:stCondLst>
                      <p:childTnLst>
                        <p:animEffect transition="in" filterType="fly" from="r">
                          <p:cBhvr>
                            <p:cTn id="10038" dur="35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10039" dur="350" fill="hold">
                      <p:stCondLst>
                        <p:cond delay="0"/>
                      </p:stCondLst>
                      <p:childTnLst>
                        <p:animEffect transition="in" filterType="fly" from="r">
                          <p:cBhvr>
                            <p:cTn id="10040" dur="35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10041" dur="350" fill="hold">
                      <p:stCondLst>
                        <p:cond delay="0"/>
                      </p:stCondLst>
                      <p:childTnLst>
                        <p:animEffect transition="in" filterType="fly" from="r">
                          <p:cBhvr>
                            <p:cTn id="10042" dur="35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10043" dur="350" fill="hold">
                      <p:stCondLst>
                        <p:cond delay="0"/>
                      </p:stCondLst>
                      <p:childTnLst>
                        <p:animEffect transition="in" filterType="fly" from="r">
                          <p:cBhvr>
                            <p:cTn id="10044" dur="35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10045" dur="350" fill="hold">
                      <p:stCondLst>
                        <p:cond delay="0"/>
                      </p:stCondLst>
                      <p:childTnLst>
                        <p:animEffect transition="in" filterType="fly" from="r">
                          <p:cBhvr>
                            <p:cTn id="10046" dur="35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  <p:par>
                    <p:cTn id="10047" dur="350" fill="hold">
                      <p:stCondLst>
                        <p:cond delay="0"/>
                      </p:stCondLst>
                      <p:childTnLst>
                        <p:animEffect transition="in" filterType="fly" from="r">
                          <p:cBhvr>
                            <p:cTn id="10048" dur="35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核心功能：D端 — 数据与监控平台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面向数据分析与运维：实时监控 · 访问统计 · 机器管理 · 智能报表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17373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实时访问监控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日活/总访问量追踪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C端用户日活统计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B端管理员登录统计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多维度数据看板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54864" cy="1737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74920" y="13716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1500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广告投放管理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15000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广告上下架与排期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用户端广告展示控制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投放效果数据追踪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公告发布与管理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3017520"/>
            <a:ext cx="54864" cy="1737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71600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服务机器监控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657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SSH远程连接管理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服务器健康状态检测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服务运行状态实时告警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自动化巡检策略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800600" y="301752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074920" y="32918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715000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智能数据报表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15000" y="3657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指标采集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可视化大屏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定时报表自动导出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异常数据智能预警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7 / 9</a:t>
            </a:r>
            <a:endParaRPr lang="en-US" sz="750" dirty="0"/>
          </a:p>
        </p:txBody>
      </p:sp>
    </p:spTree>
  </p:cSld>
  <p:transition spd="med">
    <p:push dir="r"/>
  </p:transition>
  <p:timing>
    <p:tnLst>
      <p:par>
        <p:cTn id="10049" dur="indefinite" restart="never" nodeType="tmRoot">
          <p:childTnLst>
            <p:seq concurrent="1" nextAc="seek">
              <p:cTn id="10050" dur="indefinite" nodeType="mainSeq">
                <p:childTnLst>
                  <p:par>
                    <p:cTn id="10051" dur="5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10052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053" dur="400" fill="hold">
                      <p:stCondLst>
                        <p:cond delay="0"/>
                      </p:stCondLst>
                      <p:childTnLst>
                        <p:animEffect transition="in" filterType="float" from="t">
                          <p:cBhvr>
                            <p:cTn id="10054" dur="4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0055" dur="5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056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0057" dur="350" fill="hold">
                      <p:stCondLst>
                        <p:cond delay="0"/>
                      </p:stCondLst>
                      <p:childTnLst>
                        <p:animEffect transition="in" filterType="fly" from="l">
                          <p:cBhvr>
                            <p:cTn id="10058" dur="35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0059" dur="5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060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0061" dur="350" fill="hold">
                      <p:stCondLst>
                        <p:cond delay="0"/>
                      </p:stCondLst>
                      <p:childTnLst>
                        <p:animEffect transition="in" filterType="fly" from="l">
                          <p:cBhvr>
                            <p:cTn id="10062" dur="35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0063" dur="5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064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0065" dur="350" fill="hold">
                      <p:stCondLst>
                        <p:cond delay="0"/>
                      </p:stCondLst>
                      <p:childTnLst>
                        <p:animEffect transition="in" filterType="fly" from="l">
                          <p:cBhvr>
                            <p:cTn id="10066" dur="35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0067" dur="5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068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0069" dur="350" fill="hold">
                      <p:stCondLst>
                        <p:cond delay="0"/>
                      </p:stCondLst>
                      <p:childTnLst>
                        <p:animEffect transition="in" filterType="fly" from="l">
                          <p:cBhvr>
                            <p:cTn id="10070" dur="35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未来前景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持续迭代 · 拥抱 AI 前沿 · 打造全链路智能求职生态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143000"/>
            <a:ext cx="2697480" cy="3840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近期 (1-3月)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65760" y="1645920"/>
            <a:ext cx="45720" cy="4937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16459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前端界面开发完成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2212848"/>
            <a:ext cx="45720" cy="4937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2128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 SaaS 化改造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" y="2779776"/>
            <a:ext cx="45720" cy="4937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27797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 DeepSeek 等更多 LLM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65760" y="3346704"/>
            <a:ext cx="45720" cy="4937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33467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简历评分模型上线 (XGBoost)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143000"/>
            <a:ext cx="2697480" cy="38404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29184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中期 (3-6月)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1645920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291840" y="1645920"/>
            <a:ext cx="45720" cy="4937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74720" y="16459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微服务化拆分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91840" y="2212848"/>
            <a:ext cx="45720" cy="4937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474720" y="22128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全链路可观测性增强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779776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291840" y="2779776"/>
            <a:ext cx="45720" cy="4937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474720" y="27797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智能岗位匹配推荐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346704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291840" y="3346704"/>
            <a:ext cx="45720" cy="4937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74720" y="33467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移动端适配 (小程序)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1143000"/>
            <a:ext cx="269748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21792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远期 (6-12月)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1645920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217920" y="1645920"/>
            <a:ext cx="45720" cy="49377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00800" y="16459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协作架构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2212848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217920" y="2212848"/>
            <a:ext cx="45720" cy="49377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00800" y="22128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模拟面试与反馈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779776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217920" y="2779776"/>
            <a:ext cx="45720" cy="49377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00800" y="27797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企业端 AI 筛选助手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3346704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217920" y="3346704"/>
            <a:ext cx="45720" cy="49377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400800" y="33467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构建求职知识图谱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愿景：成为求职者最信赖的 AI 求职伙伴，用人均 AI 赋能每位求职者找到理想工作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8 / 9</a:t>
            </a:r>
            <a:endParaRPr lang="en-US" sz="750" dirty="0"/>
          </a:p>
        </p:txBody>
      </p:sp>
    </p:spTree>
  </p:cSld>
  <p:transition spd="med">
    <p:cover dir="l"/>
  </p:transition>
  <p:timing>
    <p:tnLst>
      <p:par>
        <p:cTn id="10071" dur="indefinite" restart="never" nodeType="tmRoot">
          <p:childTnLst>
            <p:seq concurrent="1" nextAc="seek">
              <p:cTn id="10072" dur="indefinite" nodeType="mainSeq">
                <p:childTnLst>
                  <p:par>
                    <p:cTn id="10073" dur="5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10074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075" dur="400" fill="hold">
                      <p:stCondLst>
                        <p:cond delay="0"/>
                      </p:stCondLst>
                      <p:childTnLst>
                        <p:animEffect transition="in" filterType="float" from="t">
                          <p:cBhvr>
                            <p:cTn id="10076" dur="4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0077" dur="5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078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0079" dur="5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080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0081" dur="5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082" dur="5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10083" dur="600" fill="hold">
                      <p:stCondLst>
                        <p:cond delay="0"/>
                      </p:stCondLst>
                      <p:childTnLst>
                        <p:animEffect transition="in" filterType="wipe" from="l">
                          <p:cBhvr>
                            <p:cTn id="10084" dur="6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0" y="5070348"/>
            <a:ext cx="2743200" cy="0"/>
          </a:xfrm>
          <a:prstGeom prst="line">
            <a:avLst/>
          </a:prstGeom>
          <a:noFill/>
          <a:ln w="635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致  谢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657600" y="1828800"/>
            <a:ext cx="18288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210312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感谢各位老师和同学对 EasyApplyResume 项目的关注与支持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本项目基于 Spring AI 生态，探索了 AI Agent 在求职领域的应用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从自研 ReAct Agent 到 RAG 增强检索，从多模型适配到工具集成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这是一次将前沿 AI 技术与实际业务场景结合的有益尝试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技术栈：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· Spring AI · MyBatis-Plus · PgVector · Redis · Nacos · Docker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AI模型：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· 智谱AI (GLM-4) · 豆包 · Ollama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shining_cloud2025@163.com  |  github.com/shiningCloud2025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9 / 9</a:t>
            </a:r>
            <a:endParaRPr lang="en-US" sz="750" dirty="0"/>
          </a:p>
        </p:txBody>
      </p:sp>
    </p:spTree>
  </p:cSld>
  <p:transition spd="med">
    <p:dissolve/>
  </p:transition>
  <p:timing>
    <p:tnLst>
      <p:par>
        <p:cTn id="10085" dur="indefinite" restart="never" nodeType="tmRoot">
          <p:childTnLst>
            <p:seq concurrent="1" nextAc="seek">
              <p:cTn id="10086" dur="indefinite" nodeType="mainSeq">
                <p:childTnLst>
                  <p:par>
                    <p:cTn id="10087" dur="8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088" dur="8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0089" dur="6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10090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EasyApplyResume</dc:title>
  <dc:subject>PptxGenJS Presentation</dc:subject>
  <dc:creator>shiningCloud2025</dc:creator>
  <cp:lastModifiedBy>shiningCloud2025</cp:lastModifiedBy>
  <cp:revision>1</cp:revision>
  <dcterms:created xsi:type="dcterms:W3CDTF">2026-06-06T08:29:50Z</dcterms:created>
  <dcterms:modified xsi:type="dcterms:W3CDTF">2026-06-06T08:29:50Z</dcterms:modified>
</cp:coreProperties>
</file>