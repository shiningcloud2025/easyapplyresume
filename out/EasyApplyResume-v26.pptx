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基于SpringAI和机器学习的智能简历平台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基于AI+机器学习驱动的智能求职与管理平台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答辩人：赵云翰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4864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2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01 求职市场的严峻现状</a:t>
            </a:r>
          </a:p>
          <a:p>
            <a:r>
              <a:rPr sz="1300">
                <a:solidFill>
                  <a:srgbClr val="64748B"/>
                </a:solidFill>
                <a:latin typeface="Calibri"/>
              </a:rPr>
              <a:t>2025届全国高校毕业生规模预测达 </a:t>
            </a:r>
            <a:r>
              <a:rPr sz="3000" b="1">
                <a:solidFill>
                  <a:srgbClr val="0284C7"/>
                </a:solidFill>
                <a:latin typeface="Trebuchet MS"/>
              </a:rPr>
              <a:t>1222 万</a:t>
            </a:r>
            <a:r>
              <a:rPr sz="1300">
                <a:solidFill>
                  <a:srgbClr val="64748B"/>
                </a:solidFill>
                <a:latin typeface="Calibri"/>
              </a:rPr>
              <a:t> 人，竞争空前激烈。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简历竞争力不透明：</a:t>
            </a:r>
            <a:r>
              <a:rPr sz="1100">
                <a:solidFill>
                  <a:srgbClr val="64748B"/>
                </a:solidFill>
                <a:latin typeface="Calibri"/>
              </a:rPr>
              <a:t>缺乏专业的量化分析与针对性的优化建议，难以突出个人优势。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咨询服务响应滞后：</a:t>
            </a:r>
            <a:r>
              <a:rPr sz="1100">
                <a:solidFill>
                  <a:srgbClr val="64748B"/>
                </a:solidFill>
                <a:latin typeface="Calibri"/>
              </a:rPr>
              <a:t>专业顾问服务供需严重失衡，信息传递存在壁垒，反馈不及时。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笔试准备缺乏资源：</a:t>
            </a:r>
            <a:r>
              <a:rPr sz="1100">
                <a:solidFill>
                  <a:srgbClr val="64748B"/>
                </a:solidFill>
                <a:latin typeface="Calibri"/>
              </a:rPr>
              <a:t>缺乏行业真实题库与场景化模拟，导致备考效率低、实战能力弱。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51560"/>
            <a:ext cx="5303520" cy="352044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6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02 核心使命</a:t>
            </a:r>
          </a:p>
          <a:p>
            <a:pPr>
              <a:lnSpc>
                <a:spcPts val="2400"/>
              </a:lnSpc>
              <a:spcAft>
                <a:spcPts val="1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利用人工智能技术结合海量人工收集的行业数据，彻底打破求职过程中的信息差，打造高效、透明、专业的一站式解决方案。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简历量化评估：</a:t>
            </a:r>
            <a:r>
              <a:rPr sz="1000">
                <a:solidFill>
                  <a:srgbClr val="64748B"/>
                </a:solidFill>
                <a:latin typeface="Calibri"/>
              </a:rPr>
              <a:t>基于机器学习模型对简历内容进行多维度量化评分，精准匹配岗位需求，大幅提升简历投递的针对性与通过率。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智能交互咨询：</a:t>
            </a:r>
            <a:r>
              <a:rPr sz="1000">
                <a:solidFill>
                  <a:srgbClr val="64748B"/>
                </a:solidFill>
                <a:latin typeface="Calibri"/>
              </a:rPr>
              <a:t>构建具备深度行业语义理解能力的 AI 问答系统，提供 24/7 实时咨询服务，打破传统顾问服务的时间与成本壁垒。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全流程实战演练：</a:t>
            </a:r>
            <a:r>
              <a:rPr sz="1000">
                <a:solidFill>
                  <a:srgbClr val="64748B"/>
                </a:solidFill>
                <a:latin typeface="Calibri"/>
              </a:rPr>
              <a:t>打造高度仿真的笔试模拟与岗位实训环境，通过实战反馈辅助职业决策，补齐求职准备的短板。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① 简历分析痛点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传统简历无法直观感知在算法系统中的真实得分，导致求职者在投递环节缺乏针对性，盲目投递且筛选通过率与岗位匹配转化率均处于低位。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② 交互咨询痛点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专业的人工职业指导存在成本高昂、响应滞后的局限。求职者急需一个具备行业深度语义理解能力、可提供24/7实时服务的智能咨询助手来解决个性化疑问。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③ 实战演练痛点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不同企业的笔试题型差异巨大，且缺乏有效的反馈机制。学生需要一个高度仿真的专业模拟环境，帮助他们提前熟悉考核逻辑，通过实战反馈辅助职业决策。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284C7"/>
                </a:solidFill>
                <a:latin typeface="Trebuchet MS"/>
              </a:defRPr>
            </a:pPr>
            <a:r>
              <a:t>前端技术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Vue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Ant Design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ElementUI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D948F"/>
                </a:solidFill>
                <a:latin typeface="Trebuchet MS"/>
              </a:defRPr>
            </a:pPr>
            <a:r>
              <a:t>后端技术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SpringBoot3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SpringMVC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MyBatisPlus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SpringSecurity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SpringTask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JWT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LogBack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EA580C"/>
                </a:solidFill>
                <a:latin typeface="Trebuchet MS"/>
              </a:defRPr>
            </a:pPr>
            <a:r>
              <a:t>存储技术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MySQL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PostgreSQL / PgVector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Redis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MinIO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七牛云KODO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Nacos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Yapi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7C3AED"/>
                </a:solidFill>
                <a:latin typeface="Trebuchet MS"/>
              </a:defRPr>
            </a:pPr>
            <a:r>
              <a:t>AI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机器学习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Embedding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DC2626"/>
                </a:solidFill>
                <a:latin typeface="Trebuchet MS"/>
              </a:defRPr>
            </a:pPr>
            <a:r>
              <a:t>LLM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SpringAIAlibaba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Prompt 工程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RAG 检索增强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Function Calling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840480"/>
            <a:ext cx="34747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65A30D"/>
                </a:solidFill>
                <a:latin typeface="Trebuchet MS"/>
              </a:defRPr>
            </a:pPr>
            <a:r>
              <a:t>运维技术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 Compose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SpringBootAdmin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Prometheus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840480"/>
            <a:ext cx="3474720" cy="54864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易投简历系统总体架构图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914400"/>
            <a:ext cx="3017520" cy="384048"/>
          </a:xfrm>
          <a:prstGeom prst="rect">
            <a:avLst/>
          </a:prstGeom>
          <a:solidFill>
            <a:srgbClr val="0284C7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用户端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914400"/>
            <a:ext cx="3017520" cy="384048"/>
          </a:xfrm>
          <a:prstGeom prst="rect">
            <a:avLst/>
          </a:prstGeom>
          <a:solidFill>
            <a:srgbClr val="0D948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管理端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79" y="914400"/>
            <a:ext cx="3017520" cy="384048"/>
          </a:xfrm>
          <a:prstGeom prst="rect">
            <a:avLst/>
          </a:prstGeom>
          <a:solidFill>
            <a:srgbClr val="EA580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广告与监控端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389888"/>
            <a:ext cx="3474720" cy="347472"/>
          </a:xfrm>
          <a:prstGeom prst="rect">
            <a:avLst/>
          </a:prstGeom>
          <a:solidFill>
            <a:srgbClr val="0284C7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000" b="0">
                <a:solidFill>
                  <a:srgbClr val="FFFFFF"/>
                </a:solidFill>
                <a:latin typeface="Trebuchet MS"/>
              </a:defRPr>
            </a:pPr>
            <a:r>
              <a:t>统一接入层 (前端 + Nginx + 网关)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89888"/>
            <a:ext cx="3474720" cy="347472"/>
          </a:xfrm>
          <a:prstGeom prst="rect">
            <a:avLst/>
          </a:prstGeom>
          <a:solidFill>
            <a:srgbClr val="0D948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000" b="0">
                <a:solidFill>
                  <a:srgbClr val="FFFFFF"/>
                </a:solidFill>
                <a:latin typeface="Trebuchet MS"/>
              </a:defRPr>
            </a:pPr>
            <a:r>
              <a:t>负载均衡 · 反向代理 · 限流熔断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874519"/>
            <a:ext cx="2560320" cy="2788920"/>
          </a:xfrm>
          <a:prstGeom prst="rect">
            <a:avLst/>
          </a:prstGeom>
          <a:solidFill>
            <a:srgbClr val="F8FAFC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34439" y="1965960"/>
            <a:ext cx="2286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0">
                <a:solidFill>
                  <a:srgbClr val="0F172A"/>
                </a:solidFill>
                <a:latin typeface="Trebuchet MS"/>
              </a:defRPr>
            </a:pPr>
            <a:r>
              <a:t>我的简历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39" y="2331720"/>
            <a:ext cx="2286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0">
                <a:solidFill>
                  <a:srgbClr val="0F172A"/>
                </a:solidFill>
                <a:latin typeface="Trebuchet MS"/>
              </a:defRPr>
            </a:pPr>
            <a:r>
              <a:t>简历模版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4439" y="2697480"/>
            <a:ext cx="2286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0">
                <a:solidFill>
                  <a:srgbClr val="0F172A"/>
                </a:solidFill>
                <a:latin typeface="Trebuchet MS"/>
              </a:defRPr>
            </a:pPr>
            <a:r>
              <a:t>招聘信息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4439" y="3063240"/>
            <a:ext cx="2286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0">
                <a:solidFill>
                  <a:srgbClr val="0F172A"/>
                </a:solidFill>
                <a:latin typeface="Trebuchet MS"/>
              </a:defRPr>
            </a:pPr>
            <a:r>
              <a:t>求职攻略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34439" y="3429000"/>
            <a:ext cx="2286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0">
                <a:solidFill>
                  <a:srgbClr val="0F172A"/>
                </a:solidFill>
                <a:latin typeface="Trebuchet MS"/>
              </a:defRPr>
            </a:pPr>
            <a:r>
              <a:t>AI 简历助手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34439" y="3794760"/>
            <a:ext cx="2286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0">
                <a:solidFill>
                  <a:srgbClr val="0F172A"/>
                </a:solidFill>
                <a:latin typeface="Trebuchet MS"/>
              </a:defRPr>
            </a:pPr>
            <a:r>
              <a:t>笔试专项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34439" y="4160520"/>
            <a:ext cx="2286000" cy="320040"/>
          </a:xfrm>
          <a:prstGeom prst="rect">
            <a:avLst/>
          </a:prstGeom>
          <a:solidFill>
            <a:srgbClr val="0284C7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1">
                <a:solidFill>
                  <a:srgbClr val="FFFFFF"/>
                </a:solidFill>
                <a:latin typeface="Trebuchet MS"/>
              </a:defRPr>
            </a:pPr>
            <a:r>
              <a:t>反馈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1874519"/>
            <a:ext cx="2560320" cy="2788920"/>
          </a:xfrm>
          <a:prstGeom prst="rect">
            <a:avLst/>
          </a:prstGeom>
          <a:solidFill>
            <a:srgbClr val="F8FAFC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1965960"/>
            <a:ext cx="22860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0">
                <a:solidFill>
                  <a:srgbClr val="0F172A"/>
                </a:solidFill>
                <a:latin typeface="Trebuchet MS"/>
              </a:defRPr>
            </a:pPr>
            <a:r>
              <a:t>网站管理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2240279"/>
            <a:ext cx="22860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0">
                <a:solidFill>
                  <a:srgbClr val="0F172A"/>
                </a:solidFill>
                <a:latin typeface="Trebuchet MS"/>
              </a:defRPr>
            </a:pPr>
            <a:r>
              <a:t>文章管理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2514600"/>
            <a:ext cx="22860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0">
                <a:solidFill>
                  <a:srgbClr val="0F172A"/>
                </a:solidFill>
                <a:latin typeface="Trebuchet MS"/>
              </a:defRPr>
            </a:pPr>
            <a:r>
              <a:t>招聘管理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2788920"/>
            <a:ext cx="22860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0">
                <a:solidFill>
                  <a:srgbClr val="0F172A"/>
                </a:solidFill>
                <a:latin typeface="Trebuchet MS"/>
              </a:defRPr>
            </a:pPr>
            <a:r>
              <a:t>简历管理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3063239"/>
            <a:ext cx="22860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0">
                <a:solidFill>
                  <a:srgbClr val="0F172A"/>
                </a:solidFill>
                <a:latin typeface="Trebuchet MS"/>
              </a:defRPr>
            </a:pPr>
            <a:r>
              <a:t>Map管理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3337560"/>
            <a:ext cx="22860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0">
                <a:solidFill>
                  <a:srgbClr val="0F172A"/>
                </a:solidFill>
                <a:latin typeface="Trebuchet MS"/>
              </a:defRPr>
            </a:pPr>
            <a:r>
              <a:t>AI管理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3611879"/>
            <a:ext cx="22860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0">
                <a:solidFill>
                  <a:srgbClr val="0F172A"/>
                </a:solidFill>
                <a:latin typeface="Trebuchet MS"/>
              </a:defRPr>
            </a:pPr>
            <a:r>
              <a:t>反馈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3886200"/>
            <a:ext cx="22860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0">
                <a:solidFill>
                  <a:srgbClr val="0F172A"/>
                </a:solidFill>
                <a:latin typeface="Trebuchet MS"/>
              </a:defRPr>
            </a:pPr>
            <a:r>
              <a:t>帮助中心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4160520"/>
            <a:ext cx="22860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0">
                <a:solidFill>
                  <a:srgbClr val="0F172A"/>
                </a:solidFill>
                <a:latin typeface="Trebuchet MS"/>
              </a:defRPr>
            </a:pPr>
            <a:r>
              <a:t>笔试专项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60520" y="4434840"/>
            <a:ext cx="2286000" cy="237744"/>
          </a:xfrm>
          <a:prstGeom prst="rect">
            <a:avLst/>
          </a:prstGeom>
          <a:solidFill>
            <a:srgbClr val="0D948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00" b="1">
                <a:solidFill>
                  <a:srgbClr val="FFFFFF"/>
                </a:solidFill>
                <a:latin typeface="Trebuchet MS"/>
              </a:defRPr>
            </a:pPr>
            <a:r>
              <a:t>评分模型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0" y="1874519"/>
            <a:ext cx="2560320" cy="2788920"/>
          </a:xfrm>
          <a:prstGeom prst="rect">
            <a:avLst/>
          </a:prstGeom>
          <a:solidFill>
            <a:srgbClr val="F8FAFC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86600" y="1965960"/>
            <a:ext cx="2286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0">
                <a:solidFill>
                  <a:srgbClr val="0F172A"/>
                </a:solidFill>
                <a:latin typeface="Trebuchet MS"/>
              </a:defRPr>
            </a:pPr>
            <a:r>
              <a:t>公告管理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600" y="2331720"/>
            <a:ext cx="2286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0">
                <a:solidFill>
                  <a:srgbClr val="0F172A"/>
                </a:solidFill>
                <a:latin typeface="Trebuchet MS"/>
              </a:defRPr>
            </a:pPr>
            <a:r>
              <a:t>广告管理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2697480"/>
            <a:ext cx="2286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0">
                <a:solidFill>
                  <a:srgbClr val="0F172A"/>
                </a:solidFill>
                <a:latin typeface="Trebuchet MS"/>
              </a:defRPr>
            </a:pPr>
            <a:r>
              <a:t>用户监测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86600" y="3063240"/>
            <a:ext cx="2286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0">
                <a:solidFill>
                  <a:srgbClr val="0F172A"/>
                </a:solidFill>
                <a:latin typeface="Trebuchet MS"/>
              </a:defRPr>
            </a:pPr>
            <a:r>
              <a:t>管理监测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86600" y="3429000"/>
            <a:ext cx="2286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0">
                <a:solidFill>
                  <a:srgbClr val="0F172A"/>
                </a:solidFill>
                <a:latin typeface="Trebuchet MS"/>
              </a:defRPr>
            </a:pPr>
            <a:r>
              <a:t>中间件监测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86600" y="3794760"/>
            <a:ext cx="2286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0">
                <a:solidFill>
                  <a:srgbClr val="0F172A"/>
                </a:solidFill>
                <a:latin typeface="Trebuchet MS"/>
              </a:defRPr>
            </a:pPr>
            <a:r>
              <a:t>服务器管理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86600" y="4160520"/>
            <a:ext cx="2286000" cy="320040"/>
          </a:xfrm>
          <a:prstGeom prst="rect">
            <a:avLst/>
          </a:prstGeom>
          <a:solidFill>
            <a:srgbClr val="EA580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1">
                <a:solidFill>
                  <a:srgbClr val="FFFFFF"/>
                </a:solidFill>
                <a:latin typeface="Trebuchet MS"/>
              </a:defRPr>
            </a:pPr>
            <a:r>
              <a:t>网站安全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97280" y="4754880"/>
            <a:ext cx="2560320" cy="347472"/>
          </a:xfrm>
          <a:prstGeom prst="rect">
            <a:avLst/>
          </a:prstGeom>
          <a:solidFill>
            <a:srgbClr val="0284C7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000" b="0">
                <a:solidFill>
                  <a:srgbClr val="FFFFFF"/>
                </a:solidFill>
                <a:latin typeface="Trebuchet MS"/>
              </a:defRPr>
            </a:pPr>
            <a:r>
              <a:t>JWT + SpringSecurity 认证鉴权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80" y="4754880"/>
            <a:ext cx="2560320" cy="347472"/>
          </a:xfrm>
          <a:prstGeom prst="rect">
            <a:avLst/>
          </a:prstGeom>
          <a:solidFill>
            <a:srgbClr val="0D948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000" b="0">
                <a:solidFill>
                  <a:srgbClr val="FFFFFF"/>
                </a:solidFill>
                <a:latin typeface="Trebuchet MS"/>
              </a:defRPr>
            </a:pPr>
            <a:r>
              <a:t>MyBatisPlus 数据访问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4754880"/>
            <a:ext cx="2560320" cy="347472"/>
          </a:xfrm>
          <a:prstGeom prst="rect">
            <a:avLst/>
          </a:prstGeom>
          <a:solidFill>
            <a:srgbClr val="EA580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000" b="0">
                <a:solidFill>
                  <a:srgbClr val="FFFFFF"/>
                </a:solidFill>
                <a:latin typeface="Trebuchet MS"/>
              </a:defRPr>
            </a:pPr>
            <a:r>
              <a:t>Redis 缓存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26880" y="4754880"/>
            <a:ext cx="2560320" cy="347472"/>
          </a:xfrm>
          <a:prstGeom prst="rect">
            <a:avLst/>
          </a:prstGeom>
          <a:solidFill>
            <a:srgbClr val="7C3AED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000" b="0">
                <a:solidFill>
                  <a:srgbClr val="FFFFFF"/>
                </a:solidFill>
                <a:latin typeface="Trebuchet MS"/>
              </a:defRPr>
            </a:pPr>
            <a:r>
              <a:t>LLM 模型与 AI Agent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0" y="5212080"/>
            <a:ext cx="3017520" cy="347472"/>
          </a:xfrm>
          <a:prstGeom prst="rect">
            <a:avLst/>
          </a:prstGeom>
          <a:solidFill>
            <a:srgbClr val="0284C7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000" b="1">
                <a:solidFill>
                  <a:srgbClr val="FFFFFF"/>
                </a:solidFill>
                <a:latin typeface="Trebuchet MS"/>
              </a:defRPr>
            </a:pPr>
            <a:r>
              <a:t>MySQL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63440" y="5212080"/>
            <a:ext cx="3017520" cy="347472"/>
          </a:xfrm>
          <a:prstGeom prst="rect">
            <a:avLst/>
          </a:prstGeom>
          <a:solidFill>
            <a:srgbClr val="EA580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000" b="1">
                <a:solidFill>
                  <a:srgbClr val="FFFFFF"/>
                </a:solidFill>
                <a:latin typeface="Trebuchet MS"/>
              </a:defRPr>
            </a:pPr>
            <a:r>
              <a:t>Redis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55279" y="5212080"/>
            <a:ext cx="3017520" cy="347472"/>
          </a:xfrm>
          <a:prstGeom prst="rect">
            <a:avLst/>
          </a:prstGeom>
          <a:solidFill>
            <a:srgbClr val="0D948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000" b="1">
                <a:solidFill>
                  <a:srgbClr val="FFFFFF"/>
                </a:solidFill>
                <a:latin typeface="Trebuchet MS"/>
              </a:defRPr>
            </a:pPr>
            <a:r>
              <a:t>PgVector / MinIO / KODO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" y="5669280"/>
            <a:ext cx="2560320" cy="347472"/>
          </a:xfrm>
          <a:prstGeom prst="rect">
            <a:avLst/>
          </a:prstGeom>
          <a:solidFill>
            <a:srgbClr val="65A30D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0">
                <a:solidFill>
                  <a:srgbClr val="FFFFFF"/>
                </a:solidFill>
                <a:latin typeface="Trebuchet MS"/>
              </a:defRPr>
            </a:pPr>
            <a:r>
              <a:t>Nacos 配置中心 · 服务发现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0" y="5669280"/>
            <a:ext cx="2560320" cy="347472"/>
          </a:xfrm>
          <a:prstGeom prst="rect">
            <a:avLst/>
          </a:prstGeom>
          <a:solidFill>
            <a:srgbClr val="65A30D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0">
                <a:solidFill>
                  <a:srgbClr val="FFFFFF"/>
                </a:solidFill>
                <a:latin typeface="Trebuchet MS"/>
              </a:defRPr>
            </a:pPr>
            <a:r>
              <a:t>Docker Compose 容器编排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5669280"/>
            <a:ext cx="2560320" cy="347472"/>
          </a:xfrm>
          <a:prstGeom prst="rect">
            <a:avLst/>
          </a:prstGeom>
          <a:solidFill>
            <a:srgbClr val="65A30D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0">
                <a:solidFill>
                  <a:srgbClr val="FFFFFF"/>
                </a:solidFill>
                <a:latin typeface="Trebuchet MS"/>
              </a:defRPr>
            </a:pPr>
            <a:r>
              <a:t>SpringBootAdmin 系统监控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0" y="5669280"/>
            <a:ext cx="2560320" cy="347472"/>
          </a:xfrm>
          <a:prstGeom prst="rect">
            <a:avLst/>
          </a:prstGeom>
          <a:solidFill>
            <a:srgbClr val="65A30D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0">
                <a:solidFill>
                  <a:srgbClr val="FFFFFF"/>
                </a:solidFill>
                <a:latin typeface="Trebuchet MS"/>
              </a:defRPr>
            </a:pPr>
            <a:r>
              <a:t>Prometheus + Grafana 监控大屏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7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7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8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8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8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1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1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1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3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3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3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C端 — 简历AI助手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智能简历润色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AI 分析并优化简历</a:t>
            </a:r>
            <a:br/>
            <a:r>
              <a:t>自动调整措辞与排版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定制化建议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根据目标 JD 提供</a:t>
            </a:r>
            <a:br/>
            <a:r>
              <a:t>针对性修改方案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RAG 增强检索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向量数据库匹配</a:t>
            </a:r>
            <a:br/>
            <a:r>
              <a:t>精准推荐行业知识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工具调用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Web搜索 · PDF生成</a:t>
            </a:r>
            <a:br/>
            <a:r>
              <a:t>邮件发送 · 文件操作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流式对话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SSE 实时响应</a:t>
            </a:r>
            <a:br/>
            <a:r>
              <a:t>打字机效果呈现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生态服务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MinIO / 七牛云存储</a:t>
            </a:r>
            <a:br/>
            <a:r>
              <a:t>多行业模板支持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B端 — 系统管理助手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用户管理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注册/登录 · 权限分配 · 角色控制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75688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简历模板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行业模板 CRUD · 启用/禁用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99816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题库管理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题目增删改查 · 分类与难度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23944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FAQ管理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常见问题维护 · 内容审核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48072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使用指南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手册编辑 · 图文发布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051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AI 管理能力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智能数据统计与分析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自动化运营建议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异常行为检测预警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智能问答辅助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内容自动审核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批量操作自动化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日志诊断分析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D端 — 数据与监控平台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实时访问监控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日活/总访问量追踪</a:t>
            </a:r>
            <a:br/>
            <a:r>
              <a:t>C端/B端多维数据看板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广告投放管理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广告上下架与排期</a:t>
            </a:r>
            <a:br/>
            <a:r>
              <a:t>用户端展示效果追踪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服务机器监控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SSH 远程连接管理</a:t>
            </a:r>
            <a:br/>
            <a:r>
              <a:t>健康检测与实时告警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智能数据报表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Prometheus 指标采集</a:t>
            </a:r>
            <a:br/>
            <a:r>
              <a:t>Grafana 大屏可视化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未来前景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近期目标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完善多Agent协作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优化RAG效果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扩展行业模板库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中期规划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上线移动端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接入更多LLM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开放API生态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远期愿景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全链路AI求职平台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从简历到入职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智能闭环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让每个人都能找到理想的工作 — AI 赋能求职全流程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© 2026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