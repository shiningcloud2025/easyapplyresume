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61290000" y="322580000"/>
            <a:ext cx="9677400" cy="4032250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41935000" y="322580000"/>
            <a:ext cx="1612900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5200" b="1">
                <a:solidFill>
                  <a:srgbClr val="1E293B"/>
                </a:solidFill>
                <a:latin typeface="Trebuchet MS" panose="020B0603020202020204" charset="0"/>
                <a:cs typeface="Trebuchet MS" panose="020B0603020202020204" charset="0"/>
              </a:rPr>
              <a:t>EasyApplyResume</a:t>
            </a:r>
            <a:endParaRPr lang="en-US" altLang="en-US" sz="5200" b="1">
              <a:solidFill>
                <a:srgbClr val="1E293B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1935000" y="516128000"/>
            <a:ext cx="161290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400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AI-Driven Smart Job Platform</a:t>
            </a:r>
            <a:endParaRPr lang="en-US" altLang="en-US" sz="2400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1935000" y="677418000"/>
            <a:ext cx="806450000" cy="3225800"/>
          </a:xfrm>
          <a:prstGeom prst="rect">
            <a:avLst/>
          </a:prstGeom>
          <a:solidFill>
            <a:srgbClr val="0D948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41935000" y="725805000"/>
            <a:ext cx="1612900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3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Spring Boot . Spring AI . MyBatis-Plus . Redis . PostgreSQL . React . Docker</a:t>
            </a:r>
            <a:endParaRPr lang="en-US" altLang="en-US" sz="13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 animBg="1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2147011200" cy="129032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6774000" y="24193500"/>
            <a:ext cx="1935480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200" b="1">
                <a:solidFill>
                  <a:srgbClr val="FFFFFF"/>
                </a:solidFill>
                <a:latin typeface="Trebuchet MS" panose="020B0603020202020204" charset="0"/>
                <a:cs typeface="Trebuchet MS" panose="020B0603020202020204" charset="0"/>
              </a:rPr>
              <a:t>Problem Background</a:t>
            </a:r>
            <a:endParaRPr lang="en-US" altLang="en-US" sz="2200" b="1">
              <a:solidFill>
                <a:srgbClr val="FFFFF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29032000"/>
            <a:ext cx="2147011200" cy="48387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54835000" y="1145159000"/>
            <a:ext cx="241935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9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2/9</a:t>
            </a:r>
            <a:endParaRPr lang="en-US" altLang="en-US" sz="9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立方体 5"/>
          <p:cNvSpPr/>
          <p:nvPr/>
        </p:nvSpPr>
        <p:spPr>
          <a:xfrm>
            <a:off x="96774000" y="193548000"/>
            <a:ext cx="935482000" cy="387096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6774000" y="193548000"/>
            <a:ext cx="9677400" cy="3870960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5161000" y="225806000"/>
            <a:ext cx="83870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b="1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Resume Making Inefficient</a:t>
            </a:r>
            <a:endParaRPr lang="en-US" altLang="en-US" b="1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5161000" y="330644500"/>
            <a:ext cx="83870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4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Mass templates hard to choose
Manual formatting time-consuming</a:t>
            </a:r>
            <a:endParaRPr lang="en-US" altLang="en-US" sz="14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立方体 9"/>
          <p:cNvSpPr/>
          <p:nvPr/>
        </p:nvSpPr>
        <p:spPr>
          <a:xfrm>
            <a:off x="1112888300" y="193548000"/>
            <a:ext cx="935482000" cy="387096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12888300" y="193548000"/>
            <a:ext cx="9677400" cy="387096000"/>
          </a:xfrm>
          <a:prstGeom prst="rect">
            <a:avLst/>
          </a:prstGeom>
          <a:solidFill>
            <a:srgbClr val="0D948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61288000" y="225806000"/>
            <a:ext cx="83870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b="1">
                <a:solidFill>
                  <a:srgbClr val="0D948F"/>
                </a:solidFill>
                <a:latin typeface="Trebuchet MS" panose="020B0603020202020204" charset="0"/>
                <a:cs typeface="Trebuchet MS" panose="020B0603020202020204" charset="0"/>
              </a:rPr>
              <a:t>Info Asymmetry</a:t>
            </a:r>
            <a:endParaRPr lang="en-US" altLang="en-US" b="1">
              <a:solidFill>
                <a:srgbClr val="0D948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61288000" y="330644500"/>
            <a:ext cx="83870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4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Unfamiliar with enterprise needs
Low JD-resume match rate</a:t>
            </a:r>
            <a:endParaRPr lang="en-US" altLang="en-US" sz="14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4" name="立方体 13"/>
          <p:cNvSpPr/>
          <p:nvPr/>
        </p:nvSpPr>
        <p:spPr>
          <a:xfrm>
            <a:off x="96774000" y="653211800"/>
            <a:ext cx="935482000" cy="387096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6774000" y="653211800"/>
            <a:ext cx="9677400" cy="387096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45161000" y="685482500"/>
            <a:ext cx="83870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b="1">
                <a:solidFill>
                  <a:srgbClr val="EA580C"/>
                </a:solidFill>
                <a:latin typeface="Trebuchet MS" panose="020B0603020202020204" charset="0"/>
                <a:cs typeface="Trebuchet MS" panose="020B0603020202020204" charset="0"/>
              </a:rPr>
              <a:t>High Operation Burden</a:t>
            </a:r>
            <a:endParaRPr lang="en-US" altLang="en-US" b="1">
              <a:solidFill>
                <a:srgbClr val="EA580C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5161000" y="790308300"/>
            <a:ext cx="83870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4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Mass data manual management
Lack of intelligent tools</a:t>
            </a:r>
            <a:endParaRPr lang="en-US" altLang="en-US" sz="14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" name="立方体 17"/>
          <p:cNvSpPr/>
          <p:nvPr/>
        </p:nvSpPr>
        <p:spPr>
          <a:xfrm>
            <a:off x="1112888300" y="653211800"/>
            <a:ext cx="935482000" cy="387096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112888300" y="653211800"/>
            <a:ext cx="9677400" cy="3870960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61288000" y="685482500"/>
            <a:ext cx="83870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b="1">
                <a:solidFill>
                  <a:srgbClr val="7C3AED"/>
                </a:solidFill>
                <a:latin typeface="Trebuchet MS" panose="020B0603020202020204" charset="0"/>
                <a:cs typeface="Trebuchet MS" panose="020B0603020202020204" charset="0"/>
              </a:rPr>
              <a:t>Lack Personalization</a:t>
            </a:r>
            <a:endParaRPr lang="en-US" altLang="en-US" b="1">
              <a:solidFill>
                <a:srgbClr val="7C3AED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61288000" y="790308300"/>
            <a:ext cx="83870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4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Generic templates not industry-fit
Missing AI optimization</a:t>
            </a:r>
            <a:endParaRPr lang="en-US" altLang="en-US" sz="14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2147011200" cy="129032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6774000" y="24193500"/>
            <a:ext cx="1935480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200" b="1">
                <a:solidFill>
                  <a:srgbClr val="FFFFFF"/>
                </a:solidFill>
                <a:latin typeface="Trebuchet MS" panose="020B0603020202020204" charset="0"/>
                <a:cs typeface="Trebuchet MS" panose="020B0603020202020204" charset="0"/>
              </a:rPr>
              <a:t>Tech Stack</a:t>
            </a:r>
            <a:endParaRPr lang="en-US" altLang="en-US" sz="2200" b="1">
              <a:solidFill>
                <a:srgbClr val="FFFFF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29032000"/>
            <a:ext cx="2147011200" cy="48387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54835000" y="1145159000"/>
            <a:ext cx="241935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9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3/9</a:t>
            </a:r>
            <a:endParaRPr lang="en-US" altLang="en-US" sz="9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6774000" y="193548000"/>
            <a:ext cx="612889300" cy="806450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2903000" y="193548000"/>
            <a:ext cx="580644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Trebuchet MS" panose="020B0603020202020204" charset="0"/>
                <a:cs typeface="Trebuchet MS" panose="020B0603020202020204" charset="0"/>
              </a:rPr>
              <a:t>Foundation</a:t>
            </a:r>
            <a:endParaRPr lang="en-US" altLang="en-US" sz="1500" b="1">
              <a:solidFill>
                <a:srgbClr val="FFFFF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8" name="立方体 7"/>
          <p:cNvSpPr/>
          <p:nvPr/>
        </p:nvSpPr>
        <p:spPr>
          <a:xfrm>
            <a:off x="96774000" y="322580000"/>
            <a:ext cx="612889300" cy="7258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20967500" y="335483200"/>
            <a:ext cx="564515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Spring Boot 3.3.5 + Java 21</a:t>
            </a:r>
            <a:endParaRPr lang="en-US" altLang="en-US" sz="11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立方体 9"/>
          <p:cNvSpPr/>
          <p:nvPr/>
        </p:nvSpPr>
        <p:spPr>
          <a:xfrm>
            <a:off x="96774000" y="411289500"/>
            <a:ext cx="612889300" cy="7258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0967500" y="424192700"/>
            <a:ext cx="564515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Spring Security Dual Chain</a:t>
            </a:r>
            <a:endParaRPr lang="en-US" altLang="en-US" sz="11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2" name="立方体 11"/>
          <p:cNvSpPr/>
          <p:nvPr/>
        </p:nvSpPr>
        <p:spPr>
          <a:xfrm>
            <a:off x="96774000" y="499999000"/>
            <a:ext cx="612889300" cy="7258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20967500" y="512902200"/>
            <a:ext cx="564515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MyBatis-Plus 3.5.7</a:t>
            </a:r>
            <a:endParaRPr lang="en-US" altLang="en-US" sz="11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4" name="立方体 13"/>
          <p:cNvSpPr/>
          <p:nvPr/>
        </p:nvSpPr>
        <p:spPr>
          <a:xfrm>
            <a:off x="96774000" y="588708500"/>
            <a:ext cx="612889300" cy="7258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0967500" y="601611700"/>
            <a:ext cx="564515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Nacos Config Center</a:t>
            </a:r>
            <a:endParaRPr lang="en-US" altLang="en-US" sz="11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58063000" y="193548000"/>
            <a:ext cx="612889300" cy="80645000"/>
          </a:xfrm>
          <a:prstGeom prst="rect">
            <a:avLst/>
          </a:prstGeom>
          <a:solidFill>
            <a:srgbClr val="0D948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74179300" y="193548000"/>
            <a:ext cx="580644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Trebuchet MS" panose="020B0603020202020204" charset="0"/>
                <a:cs typeface="Trebuchet MS" panose="020B0603020202020204" charset="0"/>
              </a:rPr>
              <a:t>AI &amp; LLM</a:t>
            </a:r>
            <a:endParaRPr lang="en-US" altLang="en-US" sz="1500" b="1">
              <a:solidFill>
                <a:srgbClr val="FFFFF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18" name="立方体 17"/>
          <p:cNvSpPr/>
          <p:nvPr/>
        </p:nvSpPr>
        <p:spPr>
          <a:xfrm>
            <a:off x="758063000" y="322580000"/>
            <a:ext cx="612889300" cy="7258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82256500" y="335483200"/>
            <a:ext cx="564515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Spring AI Multi-Model</a:t>
            </a:r>
            <a:endParaRPr lang="en-US" altLang="en-US" sz="11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0" name="立方体 19"/>
          <p:cNvSpPr/>
          <p:nvPr/>
        </p:nvSpPr>
        <p:spPr>
          <a:xfrm>
            <a:off x="758063000" y="411289500"/>
            <a:ext cx="612889300" cy="7258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82256500" y="424192700"/>
            <a:ext cx="564515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ReAct Agent Architecture</a:t>
            </a:r>
            <a:endParaRPr lang="en-US" altLang="en-US" sz="11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立方体 21"/>
          <p:cNvSpPr/>
          <p:nvPr/>
        </p:nvSpPr>
        <p:spPr>
          <a:xfrm>
            <a:off x="758063000" y="499999000"/>
            <a:ext cx="612889300" cy="7258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82256500" y="512902200"/>
            <a:ext cx="564515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RAG Retrieval Augmented</a:t>
            </a:r>
            <a:endParaRPr lang="en-US" altLang="en-US" sz="11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4" name="立方体 23"/>
          <p:cNvSpPr/>
          <p:nvPr/>
        </p:nvSpPr>
        <p:spPr>
          <a:xfrm>
            <a:off x="758063000" y="588708500"/>
            <a:ext cx="612889300" cy="7258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82256500" y="601611700"/>
            <a:ext cx="564515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DashScope / Zhipu / Ollama</a:t>
            </a:r>
            <a:endParaRPr lang="en-US" altLang="en-US" sz="11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419339300" y="193548000"/>
            <a:ext cx="612889300" cy="80645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435468300" y="193548000"/>
            <a:ext cx="580644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Trebuchet MS" panose="020B0603020202020204" charset="0"/>
                <a:cs typeface="Trebuchet MS" panose="020B0603020202020204" charset="0"/>
              </a:rPr>
              <a:t>Data &amp; Storage</a:t>
            </a:r>
            <a:endParaRPr lang="en-US" altLang="en-US" sz="1500" b="1">
              <a:solidFill>
                <a:srgbClr val="FFFFF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28" name="立方体 27"/>
          <p:cNvSpPr/>
          <p:nvPr/>
        </p:nvSpPr>
        <p:spPr>
          <a:xfrm>
            <a:off x="1419339300" y="322580000"/>
            <a:ext cx="612889300" cy="7258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443545500" y="335483200"/>
            <a:ext cx="564515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MySQL + PostgreSQL / PgVector</a:t>
            </a:r>
            <a:endParaRPr lang="en-US" altLang="en-US" sz="11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" name="立方体 29"/>
          <p:cNvSpPr/>
          <p:nvPr/>
        </p:nvSpPr>
        <p:spPr>
          <a:xfrm>
            <a:off x="1419339300" y="411289500"/>
            <a:ext cx="612889300" cy="7258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443545500" y="424192700"/>
            <a:ext cx="564515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Redis Cache &amp; Messaging</a:t>
            </a:r>
            <a:endParaRPr lang="en-US" altLang="en-US" sz="11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2" name="立方体 31"/>
          <p:cNvSpPr/>
          <p:nvPr/>
        </p:nvSpPr>
        <p:spPr>
          <a:xfrm>
            <a:off x="1419339300" y="499999000"/>
            <a:ext cx="612889300" cy="7258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443545500" y="512902200"/>
            <a:ext cx="564515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MinIO / Qiniu OSS</a:t>
            </a:r>
            <a:endParaRPr lang="en-US" altLang="en-US" sz="11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4" name="立方体 33"/>
          <p:cNvSpPr/>
          <p:nvPr/>
        </p:nvSpPr>
        <p:spPr>
          <a:xfrm>
            <a:off x="1419339300" y="588708500"/>
            <a:ext cx="612889300" cy="7258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443545500" y="601611700"/>
            <a:ext cx="564515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Docker Deployment</a:t>
            </a:r>
            <a:endParaRPr lang="en-US" altLang="en-US" sz="11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2147011200" cy="129032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6774000" y="24193500"/>
            <a:ext cx="1935480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200" b="1">
                <a:solidFill>
                  <a:srgbClr val="FFFFFF"/>
                </a:solidFill>
                <a:latin typeface="Trebuchet MS" panose="020B0603020202020204" charset="0"/>
                <a:cs typeface="Trebuchet MS" panose="020B0603020202020204" charset="0"/>
              </a:rPr>
              <a:t>AI Agent Architecture</a:t>
            </a:r>
            <a:endParaRPr lang="en-US" altLang="en-US" sz="2200" b="1">
              <a:solidFill>
                <a:srgbClr val="FFFFF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29032000"/>
            <a:ext cx="2147011200" cy="48387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54835000" y="1145159000"/>
            <a:ext cx="241935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9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4/9</a:t>
            </a:r>
            <a:endParaRPr lang="en-US" altLang="en-US" sz="9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立方体 5"/>
          <p:cNvSpPr/>
          <p:nvPr/>
        </p:nvSpPr>
        <p:spPr>
          <a:xfrm>
            <a:off x="96774000" y="193548000"/>
            <a:ext cx="887095000" cy="193548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6774000" y="193548000"/>
            <a:ext cx="9677400" cy="1935480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1290000" y="217728800"/>
            <a:ext cx="806450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000" b="1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BaseAgent</a:t>
            </a:r>
            <a:endParaRPr lang="en-US" altLang="en-US" sz="2000" b="1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1290000" y="290322000"/>
            <a:ext cx="80645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2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LLM Call . Memory . Base Abstraction</a:t>
            </a:r>
            <a:endParaRPr lang="en-US" altLang="en-US" sz="12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3870000" y="379031500"/>
            <a:ext cx="161290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6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v</a:t>
            </a:r>
            <a:endParaRPr lang="en-US" altLang="en-US" sz="16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立方体 10"/>
          <p:cNvSpPr/>
          <p:nvPr/>
        </p:nvSpPr>
        <p:spPr>
          <a:xfrm>
            <a:off x="96774000" y="435483000"/>
            <a:ext cx="887095000" cy="193548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6774000" y="435483000"/>
            <a:ext cx="9677400" cy="193548000"/>
          </a:xfrm>
          <a:prstGeom prst="rect">
            <a:avLst/>
          </a:prstGeom>
          <a:solidFill>
            <a:srgbClr val="0D948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61290000" y="459676500"/>
            <a:ext cx="806450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000" b="1">
                <a:solidFill>
                  <a:srgbClr val="0D948F"/>
                </a:solidFill>
                <a:latin typeface="Trebuchet MS" panose="020B0603020202020204" charset="0"/>
                <a:cs typeface="Trebuchet MS" panose="020B0603020202020204" charset="0"/>
              </a:rPr>
              <a:t>ReActAgent</a:t>
            </a:r>
            <a:endParaRPr lang="en-US" altLang="en-US" sz="2000" b="1">
              <a:solidFill>
                <a:srgbClr val="0D948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1290000" y="532257000"/>
            <a:ext cx="80645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2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Think -&gt; Act -&gt; Observe Cycle</a:t>
            </a:r>
            <a:endParaRPr lang="en-US" altLang="en-US" sz="12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3870000" y="620966500"/>
            <a:ext cx="161290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6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v</a:t>
            </a:r>
            <a:endParaRPr lang="en-US" altLang="en-US" sz="16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6" name="立方体 15"/>
          <p:cNvSpPr/>
          <p:nvPr/>
        </p:nvSpPr>
        <p:spPr>
          <a:xfrm>
            <a:off x="96774000" y="677418000"/>
            <a:ext cx="887095000" cy="193548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96774000" y="677418000"/>
            <a:ext cx="9677400" cy="193548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61290000" y="701611500"/>
            <a:ext cx="806450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000" b="1">
                <a:solidFill>
                  <a:srgbClr val="EA580C"/>
                </a:solidFill>
                <a:latin typeface="Trebuchet MS" panose="020B0603020202020204" charset="0"/>
                <a:cs typeface="Trebuchet MS" panose="020B0603020202020204" charset="0"/>
              </a:rPr>
              <a:t>ToolCallAgent</a:t>
            </a:r>
            <a:endParaRPr lang="en-US" altLang="en-US" sz="2000" b="1">
              <a:solidFill>
                <a:srgbClr val="EA580C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1290000" y="774192000"/>
            <a:ext cx="80645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2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Tool Registry . Function Calling</a:t>
            </a:r>
            <a:endParaRPr lang="en-US" altLang="en-US" sz="12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96772000" y="193548000"/>
            <a:ext cx="9677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b="1">
                <a:solidFill>
                  <a:srgbClr val="1E293B"/>
                </a:solidFill>
                <a:latin typeface="Trebuchet MS" panose="020B0603020202020204" charset="0"/>
                <a:cs typeface="Trebuchet MS" panose="020B0603020202020204" charset="0"/>
              </a:rPr>
              <a:t>Core Components</a:t>
            </a:r>
            <a:endParaRPr lang="en-US" altLang="en-US" b="1">
              <a:solidFill>
                <a:srgbClr val="1E293B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21" name="立方体 20"/>
          <p:cNvSpPr/>
          <p:nvPr/>
        </p:nvSpPr>
        <p:spPr>
          <a:xfrm>
            <a:off x="1096772000" y="298386500"/>
            <a:ext cx="967740000" cy="112903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096772000" y="298386500"/>
            <a:ext cx="9677400" cy="1129030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145159000" y="306451000"/>
            <a:ext cx="87096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400" b="1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RAG Knowledge Base</a:t>
            </a:r>
            <a:endParaRPr lang="en-US" altLang="en-US" sz="1400" b="1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45159000" y="359676700"/>
            <a:ext cx="870966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PgVector + Cloud KB</a:t>
            </a:r>
            <a:endParaRPr lang="en-US" altLang="en-US" sz="11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5" name="立方体 24"/>
          <p:cNvSpPr/>
          <p:nvPr/>
        </p:nvSpPr>
        <p:spPr>
          <a:xfrm>
            <a:off x="1096772000" y="430644300"/>
            <a:ext cx="967740000" cy="112903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096772000" y="430644300"/>
            <a:ext cx="9677400" cy="112903000"/>
          </a:xfrm>
          <a:prstGeom prst="rect">
            <a:avLst/>
          </a:prstGeom>
          <a:solidFill>
            <a:srgbClr val="0D948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145159000" y="438696100"/>
            <a:ext cx="87096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400" b="1">
                <a:solidFill>
                  <a:srgbClr val="0D948F"/>
                </a:solidFill>
                <a:latin typeface="Trebuchet MS" panose="020B0603020202020204" charset="0"/>
                <a:cs typeface="Trebuchet MS" panose="020B0603020202020204" charset="0"/>
              </a:rPr>
              <a:t>Tool Calling</a:t>
            </a:r>
            <a:endParaRPr lang="en-US" altLang="en-US" sz="1400" b="1">
              <a:solidFill>
                <a:srgbClr val="0D948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45159000" y="491934500"/>
            <a:ext cx="870966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Web Search . Terminal . File . PDF</a:t>
            </a:r>
            <a:endParaRPr lang="en-US" altLang="en-US" sz="11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9" name="立方体 28"/>
          <p:cNvSpPr/>
          <p:nvPr/>
        </p:nvSpPr>
        <p:spPr>
          <a:xfrm>
            <a:off x="1096772000" y="562902100"/>
            <a:ext cx="967740000" cy="112903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096772000" y="562902100"/>
            <a:ext cx="9677400" cy="112903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145159000" y="570966600"/>
            <a:ext cx="87096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400" b="1">
                <a:solidFill>
                  <a:srgbClr val="EA580C"/>
                </a:solidFill>
                <a:latin typeface="Trebuchet MS" panose="020B0603020202020204" charset="0"/>
                <a:cs typeface="Trebuchet MS" panose="020B0603020202020204" charset="0"/>
              </a:rPr>
              <a:t>Chat Memory</a:t>
            </a:r>
            <a:endParaRPr lang="en-US" altLang="en-US" sz="1400" b="1">
              <a:solidFill>
                <a:srgbClr val="EA580C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45159000" y="624192300"/>
            <a:ext cx="870966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MySQL Persist + In-Memory</a:t>
            </a:r>
            <a:endParaRPr lang="en-US" altLang="en-US" sz="11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3" name="立方体 32"/>
          <p:cNvSpPr/>
          <p:nvPr/>
        </p:nvSpPr>
        <p:spPr>
          <a:xfrm>
            <a:off x="1096772000" y="695159900"/>
            <a:ext cx="967740000" cy="112903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096772000" y="695159900"/>
            <a:ext cx="9677400" cy="1129030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145159000" y="703224400"/>
            <a:ext cx="87096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400" b="1">
                <a:solidFill>
                  <a:srgbClr val="7C3AED"/>
                </a:solidFill>
                <a:latin typeface="Trebuchet MS" panose="020B0603020202020204" charset="0"/>
                <a:cs typeface="Trebuchet MS" panose="020B0603020202020204" charset="0"/>
              </a:rPr>
              <a:t>Security Filter</a:t>
            </a:r>
            <a:endParaRPr lang="en-US" altLang="en-US" sz="1400" b="1">
              <a:solidFill>
                <a:srgbClr val="7C3AED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145159000" y="756450100"/>
            <a:ext cx="870966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Sensitive Words . Auth</a:t>
            </a:r>
            <a:endParaRPr lang="en-US" altLang="en-US" sz="11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7" name="立方体 36"/>
          <p:cNvSpPr/>
          <p:nvPr/>
        </p:nvSpPr>
        <p:spPr>
          <a:xfrm>
            <a:off x="1096772000" y="827417700"/>
            <a:ext cx="967740000" cy="112903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096772000" y="827417700"/>
            <a:ext cx="9677400" cy="1129030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145159000" y="835482200"/>
            <a:ext cx="87096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400" b="1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MCP Client</a:t>
            </a:r>
            <a:endParaRPr lang="en-US" altLang="en-US" sz="1400" b="1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145159000" y="888707900"/>
            <a:ext cx="870966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Multi-Protocol Integration</a:t>
            </a:r>
            <a:endParaRPr lang="en-US" altLang="en-US" sz="11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1" name="立方体 40"/>
          <p:cNvSpPr/>
          <p:nvPr/>
        </p:nvSpPr>
        <p:spPr>
          <a:xfrm>
            <a:off x="1096772000" y="959675500"/>
            <a:ext cx="967740000" cy="112903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096772000" y="959675500"/>
            <a:ext cx="9677400" cy="112903000"/>
          </a:xfrm>
          <a:prstGeom prst="rect">
            <a:avLst/>
          </a:prstGeom>
          <a:solidFill>
            <a:srgbClr val="0D948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1145159000" y="967727300"/>
            <a:ext cx="87096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400" b="1">
                <a:solidFill>
                  <a:srgbClr val="0D948F"/>
                </a:solidFill>
                <a:latin typeface="Trebuchet MS" panose="020B0603020202020204" charset="0"/>
                <a:cs typeface="Trebuchet MS" panose="020B0603020202020204" charset="0"/>
              </a:rPr>
              <a:t>Stream Output</a:t>
            </a:r>
            <a:endParaRPr lang="en-US" altLang="en-US" sz="1400" b="1">
              <a:solidFill>
                <a:srgbClr val="0D948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145159000" y="1020953000"/>
            <a:ext cx="870966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SSE Real-Time Response</a:t>
            </a:r>
            <a:endParaRPr lang="en-US" altLang="en-US" sz="11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/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 animBg="1"/>
      <p:bldP spid="26" grpId="0" animBg="1"/>
      <p:bldP spid="27" grpId="0"/>
      <p:bldP spid="28" grpId="0"/>
      <p:bldP spid="29" grpId="0" animBg="1"/>
      <p:bldP spid="30" grpId="0" animBg="1"/>
      <p:bldP spid="31" grpId="0"/>
      <p:bldP spid="32" grpId="0"/>
      <p:bldP spid="33" grpId="0" animBg="1"/>
      <p:bldP spid="34" grpId="0" animBg="1"/>
      <p:bldP spid="35" grpId="0"/>
      <p:bldP spid="36" grpId="0"/>
      <p:bldP spid="37" grpId="0" animBg="1"/>
      <p:bldP spid="38" grpId="0" animBg="1"/>
      <p:bldP spid="39" grpId="0"/>
      <p:bldP spid="40" grpId="0"/>
      <p:bldP spid="41" grpId="0" animBg="1"/>
      <p:bldP spid="42" grpId="0" animBg="1"/>
      <p:bldP spid="43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2147011200" cy="129032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6774000" y="24193500"/>
            <a:ext cx="1935480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200" b="1">
                <a:solidFill>
                  <a:srgbClr val="FFFFFF"/>
                </a:solidFill>
                <a:latin typeface="Trebuchet MS" panose="020B0603020202020204" charset="0"/>
                <a:cs typeface="Trebuchet MS" panose="020B0603020202020204" charset="0"/>
              </a:rPr>
              <a:t>C-End . Resume AI Assistant</a:t>
            </a:r>
            <a:endParaRPr lang="en-US" altLang="en-US" sz="2200" b="1">
              <a:solidFill>
                <a:srgbClr val="FFFFF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29032000"/>
            <a:ext cx="2147011200" cy="48387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54835000" y="1145159000"/>
            <a:ext cx="241935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9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5/9</a:t>
            </a:r>
            <a:endParaRPr lang="en-US" altLang="en-US" sz="9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立方体 5"/>
          <p:cNvSpPr/>
          <p:nvPr/>
        </p:nvSpPr>
        <p:spPr>
          <a:xfrm>
            <a:off x="96774000" y="193548000"/>
            <a:ext cx="612889300" cy="39516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6774000" y="193548000"/>
            <a:ext cx="612889300" cy="80645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9032000" y="233870500"/>
            <a:ext cx="54838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600" b="1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Smart Polish</a:t>
            </a:r>
            <a:endParaRPr lang="en-US" altLang="en-US" sz="1600" b="1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9032000" y="338709000"/>
            <a:ext cx="54838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2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AI analyzes &amp; optimizes
Auto adjust wording &amp; layout</a:t>
            </a:r>
            <a:endParaRPr lang="en-US" altLang="en-US" sz="12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立方体 9"/>
          <p:cNvSpPr/>
          <p:nvPr/>
        </p:nvSpPr>
        <p:spPr>
          <a:xfrm>
            <a:off x="766127500" y="193548000"/>
            <a:ext cx="612889300" cy="39516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66127500" y="193548000"/>
            <a:ext cx="612889300" cy="8064500"/>
          </a:xfrm>
          <a:prstGeom prst="rect">
            <a:avLst/>
          </a:prstGeom>
          <a:solidFill>
            <a:srgbClr val="0D948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98385500" y="233870500"/>
            <a:ext cx="54838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600" b="1">
                <a:solidFill>
                  <a:srgbClr val="0D948F"/>
                </a:solidFill>
                <a:latin typeface="Trebuchet MS" panose="020B0603020202020204" charset="0"/>
                <a:cs typeface="Trebuchet MS" panose="020B0603020202020204" charset="0"/>
              </a:rPr>
              <a:t>Custom Advice</a:t>
            </a:r>
            <a:endParaRPr lang="en-US" altLang="en-US" sz="1600" b="1">
              <a:solidFill>
                <a:srgbClr val="0D948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8385500" y="338709000"/>
            <a:ext cx="54838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2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Target JD-based
Specific modification plan</a:t>
            </a:r>
            <a:endParaRPr lang="en-US" altLang="en-US" sz="12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4" name="立方体 13"/>
          <p:cNvSpPr/>
          <p:nvPr/>
        </p:nvSpPr>
        <p:spPr>
          <a:xfrm>
            <a:off x="1435481000" y="193548000"/>
            <a:ext cx="612889300" cy="39516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35481000" y="193548000"/>
            <a:ext cx="612889300" cy="80645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467726300" y="233870500"/>
            <a:ext cx="54838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600" b="1">
                <a:solidFill>
                  <a:srgbClr val="EA580C"/>
                </a:solidFill>
                <a:latin typeface="Trebuchet MS" panose="020B0603020202020204" charset="0"/>
                <a:cs typeface="Trebuchet MS" panose="020B0603020202020204" charset="0"/>
              </a:rPr>
              <a:t>RAG Enhanced</a:t>
            </a:r>
            <a:endParaRPr lang="en-US" altLang="en-US" sz="1600" b="1">
              <a:solidFill>
                <a:srgbClr val="EA580C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67726300" y="338709000"/>
            <a:ext cx="54838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2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Vector DB matching
Precise industry knowledge</a:t>
            </a:r>
            <a:endParaRPr lang="en-US" altLang="en-US" sz="12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" name="立方体 17"/>
          <p:cNvSpPr/>
          <p:nvPr/>
        </p:nvSpPr>
        <p:spPr>
          <a:xfrm>
            <a:off x="96774000" y="653211800"/>
            <a:ext cx="612889300" cy="39516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6774000" y="653211800"/>
            <a:ext cx="612889300" cy="80645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29032000" y="693534300"/>
            <a:ext cx="54838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600" b="1">
                <a:solidFill>
                  <a:srgbClr val="7C3AED"/>
                </a:solidFill>
                <a:latin typeface="Trebuchet MS" panose="020B0603020202020204" charset="0"/>
                <a:cs typeface="Trebuchet MS" panose="020B0603020202020204" charset="0"/>
              </a:rPr>
              <a:t>Tool Calling</a:t>
            </a:r>
            <a:endParaRPr lang="en-US" altLang="en-US" sz="1600" b="1">
              <a:solidFill>
                <a:srgbClr val="7C3AED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9032000" y="798385500"/>
            <a:ext cx="54838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2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Web Search . PDF . Email . File</a:t>
            </a:r>
            <a:endParaRPr lang="en-US" altLang="en-US" sz="12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立方体 21"/>
          <p:cNvSpPr/>
          <p:nvPr/>
        </p:nvSpPr>
        <p:spPr>
          <a:xfrm>
            <a:off x="766127500" y="653211800"/>
            <a:ext cx="612889300" cy="39516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66127500" y="653211800"/>
            <a:ext cx="612889300" cy="80645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98385500" y="693534300"/>
            <a:ext cx="54838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600" b="1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Stream Chat</a:t>
            </a:r>
            <a:endParaRPr lang="en-US" altLang="en-US" sz="1600" b="1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98385500" y="798385500"/>
            <a:ext cx="54838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2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SSE real-time response
Typewriter effect</a:t>
            </a:r>
            <a:endParaRPr lang="en-US" altLang="en-US" sz="12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6" name="立方体 25"/>
          <p:cNvSpPr/>
          <p:nvPr/>
        </p:nvSpPr>
        <p:spPr>
          <a:xfrm>
            <a:off x="1435481000" y="653211800"/>
            <a:ext cx="612889300" cy="3951605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435481000" y="653211800"/>
            <a:ext cx="612889300" cy="8064500"/>
          </a:xfrm>
          <a:prstGeom prst="rect">
            <a:avLst/>
          </a:prstGeom>
          <a:solidFill>
            <a:srgbClr val="0D948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467726300" y="693534300"/>
            <a:ext cx="54838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600" b="1">
                <a:solidFill>
                  <a:srgbClr val="0D948F"/>
                </a:solidFill>
                <a:latin typeface="Trebuchet MS" panose="020B0603020202020204" charset="0"/>
                <a:cs typeface="Trebuchet MS" panose="020B0603020202020204" charset="0"/>
              </a:rPr>
              <a:t>Eco Services</a:t>
            </a:r>
            <a:endParaRPr lang="en-US" altLang="en-US" sz="1600" b="1">
              <a:solidFill>
                <a:srgbClr val="0D948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467726300" y="798385500"/>
            <a:ext cx="54838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2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MinIO/Qiniu storage
Multi-industry templates</a:t>
            </a:r>
            <a:endParaRPr lang="en-US" altLang="en-US" sz="12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/>
      <p:bldP spid="25" grpId="0"/>
      <p:bldP spid="26" grpId="0" animBg="1"/>
      <p:bldP spid="27" grpId="0" animBg="1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2147011200" cy="129032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6774000" y="24193500"/>
            <a:ext cx="1935480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200" b="1">
                <a:solidFill>
                  <a:srgbClr val="FFFFFF"/>
                </a:solidFill>
                <a:latin typeface="Trebuchet MS" panose="020B0603020202020204" charset="0"/>
                <a:cs typeface="Trebuchet MS" panose="020B0603020202020204" charset="0"/>
              </a:rPr>
              <a:t>B-End . System Manager</a:t>
            </a:r>
            <a:endParaRPr lang="en-US" altLang="en-US" sz="2200" b="1">
              <a:solidFill>
                <a:srgbClr val="FFFFF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29032000"/>
            <a:ext cx="2147011200" cy="48387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54835000" y="1145159000"/>
            <a:ext cx="241935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9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6/9</a:t>
            </a:r>
            <a:endParaRPr lang="en-US" altLang="en-US" sz="9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立方体 5"/>
          <p:cNvSpPr/>
          <p:nvPr/>
        </p:nvSpPr>
        <p:spPr>
          <a:xfrm>
            <a:off x="96774000" y="185483500"/>
            <a:ext cx="1048385000" cy="1532128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6774000" y="185483500"/>
            <a:ext cx="9677400" cy="1532128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1290000" y="201612500"/>
            <a:ext cx="93548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600" b="1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User Management</a:t>
            </a:r>
            <a:endParaRPr lang="en-US" altLang="en-US" sz="1600" b="1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1290000" y="258051300"/>
            <a:ext cx="935482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Register/Login . Permission . Role</a:t>
            </a:r>
            <a:endParaRPr lang="en-US" altLang="en-US" sz="11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立方体 9"/>
          <p:cNvSpPr/>
          <p:nvPr/>
        </p:nvSpPr>
        <p:spPr>
          <a:xfrm>
            <a:off x="96774000" y="366128300"/>
            <a:ext cx="1048385000" cy="1532128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6774000" y="366128300"/>
            <a:ext cx="9677400" cy="1532128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61290000" y="382257300"/>
            <a:ext cx="93548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600" b="1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Resume Template</a:t>
            </a:r>
            <a:endParaRPr lang="en-US" altLang="en-US" sz="1600" b="1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1290000" y="438708800"/>
            <a:ext cx="935482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Template CRUD . Enable/Disable</a:t>
            </a:r>
            <a:endParaRPr lang="en-US" altLang="en-US" sz="11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4" name="立方体 13"/>
          <p:cNvSpPr/>
          <p:nvPr/>
        </p:nvSpPr>
        <p:spPr>
          <a:xfrm>
            <a:off x="96774000" y="546773100"/>
            <a:ext cx="1048385000" cy="1532128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6774000" y="546773100"/>
            <a:ext cx="9677400" cy="1532128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61290000" y="562902100"/>
            <a:ext cx="93548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600" b="1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Written Test</a:t>
            </a:r>
            <a:endParaRPr lang="en-US" altLang="en-US" sz="1600" b="1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61290000" y="619353600"/>
            <a:ext cx="935482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Question CRUD . Category . Level</a:t>
            </a:r>
            <a:endParaRPr lang="en-US" altLang="en-US" sz="11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" name="立方体 17"/>
          <p:cNvSpPr/>
          <p:nvPr/>
        </p:nvSpPr>
        <p:spPr>
          <a:xfrm>
            <a:off x="96774000" y="727405200"/>
            <a:ext cx="1048385000" cy="1532128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6774000" y="727405200"/>
            <a:ext cx="9677400" cy="1532128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61290000" y="743534200"/>
            <a:ext cx="93548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600" b="1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FAQ Management</a:t>
            </a:r>
            <a:endParaRPr lang="en-US" altLang="en-US" sz="1600" b="1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1290000" y="799998400"/>
            <a:ext cx="935482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Question maintenance . Review</a:t>
            </a:r>
            <a:endParaRPr lang="en-US" altLang="en-US" sz="11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立方体 21"/>
          <p:cNvSpPr/>
          <p:nvPr/>
        </p:nvSpPr>
        <p:spPr>
          <a:xfrm>
            <a:off x="96774000" y="908062700"/>
            <a:ext cx="1048385000" cy="1532128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6774000" y="908062700"/>
            <a:ext cx="9677400" cy="1532128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61290000" y="924191700"/>
            <a:ext cx="93548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600" b="1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User Guide</a:t>
            </a:r>
            <a:endParaRPr lang="en-US" altLang="en-US" sz="1600" b="1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61290000" y="980643200"/>
            <a:ext cx="935482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1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Manual editing . Rich text</a:t>
            </a:r>
            <a:endParaRPr lang="en-US" altLang="en-US" sz="11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225791300" y="185483500"/>
            <a:ext cx="88709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b="1">
                <a:solidFill>
                  <a:srgbClr val="0D948F"/>
                </a:solidFill>
                <a:latin typeface="Trebuchet MS" panose="020B0603020202020204" charset="0"/>
                <a:cs typeface="Trebuchet MS" panose="020B0603020202020204" charset="0"/>
              </a:rPr>
              <a:t>AI Management Capabilities</a:t>
            </a:r>
            <a:endParaRPr lang="en-US" altLang="en-US" b="1">
              <a:solidFill>
                <a:srgbClr val="0D948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225791300" y="290322000"/>
            <a:ext cx="887095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3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+ Smart Data Statistics &amp; Analysis</a:t>
            </a:r>
            <a:endParaRPr lang="en-US" altLang="en-US" sz="13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225791300" y="370967000"/>
            <a:ext cx="887095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3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+ Automated Operation Suggestions</a:t>
            </a:r>
            <a:endParaRPr lang="en-US" altLang="en-US" sz="13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225791300" y="451612000"/>
            <a:ext cx="887095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3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+ Anomaly Detection &amp; Alert</a:t>
            </a:r>
            <a:endParaRPr lang="en-US" altLang="en-US" sz="13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225791300" y="532257000"/>
            <a:ext cx="887095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3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+ Smart Q&amp;A Assistant</a:t>
            </a:r>
            <a:endParaRPr lang="en-US" altLang="en-US" sz="13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25791300" y="612889300"/>
            <a:ext cx="887095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3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+ Content Auto Review</a:t>
            </a:r>
            <a:endParaRPr lang="en-US" altLang="en-US" sz="13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225791300" y="693534300"/>
            <a:ext cx="887095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3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+ Batch Operation Automation</a:t>
            </a:r>
            <a:endParaRPr lang="en-US" altLang="en-US" sz="13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225791300" y="774192000"/>
            <a:ext cx="887095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3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+ Log Analysis &amp; Diagnosis</a:t>
            </a:r>
            <a:endParaRPr lang="en-US" altLang="en-US" sz="13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2147011200" cy="129032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6774000" y="24193500"/>
            <a:ext cx="1935480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200" b="1">
                <a:solidFill>
                  <a:srgbClr val="FFFFFF"/>
                </a:solidFill>
                <a:latin typeface="Trebuchet MS" panose="020B0603020202020204" charset="0"/>
                <a:cs typeface="Trebuchet MS" panose="020B0603020202020204" charset="0"/>
              </a:rPr>
              <a:t>D-End . Data &amp; Monitoring</a:t>
            </a:r>
            <a:endParaRPr lang="en-US" altLang="en-US" sz="2200" b="1">
              <a:solidFill>
                <a:srgbClr val="FFFFF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29032000"/>
            <a:ext cx="2147011200" cy="48387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54835000" y="1145159000"/>
            <a:ext cx="241935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9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7/9</a:t>
            </a:r>
            <a:endParaRPr lang="en-US" altLang="en-US" sz="9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立方体 5"/>
          <p:cNvSpPr/>
          <p:nvPr/>
        </p:nvSpPr>
        <p:spPr>
          <a:xfrm>
            <a:off x="96774000" y="193548000"/>
            <a:ext cx="935482000" cy="403225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6774000" y="193548000"/>
            <a:ext cx="935482000" cy="80645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5161000" y="233870500"/>
            <a:ext cx="83870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000" b="1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Real-time Monitoring</a:t>
            </a:r>
            <a:endParaRPr lang="en-US" altLang="en-US" sz="2000" b="1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5161000" y="354838000"/>
            <a:ext cx="83870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4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DAU/Total PV tracking
Multi-dim dashboard</a:t>
            </a:r>
            <a:endParaRPr lang="en-US" altLang="en-US" sz="14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立方体 9"/>
          <p:cNvSpPr/>
          <p:nvPr/>
        </p:nvSpPr>
        <p:spPr>
          <a:xfrm>
            <a:off x="1112888300" y="193548000"/>
            <a:ext cx="935482000" cy="403225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12888300" y="193548000"/>
            <a:ext cx="935482000" cy="8064500"/>
          </a:xfrm>
          <a:prstGeom prst="rect">
            <a:avLst/>
          </a:prstGeom>
          <a:solidFill>
            <a:srgbClr val="0D948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61288000" y="233870500"/>
            <a:ext cx="83870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000" b="1">
                <a:solidFill>
                  <a:srgbClr val="0D948F"/>
                </a:solidFill>
                <a:latin typeface="Trebuchet MS" panose="020B0603020202020204" charset="0"/>
                <a:cs typeface="Trebuchet MS" panose="020B0603020202020204" charset="0"/>
              </a:rPr>
              <a:t>Ad Management</a:t>
            </a:r>
            <a:endParaRPr lang="en-US" altLang="en-US" sz="2000" b="1">
              <a:solidFill>
                <a:srgbClr val="0D948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61288000" y="354838000"/>
            <a:ext cx="83870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4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Ad scheduling &amp; control
Performance tracking</a:t>
            </a:r>
            <a:endParaRPr lang="en-US" altLang="en-US" sz="14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4" name="立方体 13"/>
          <p:cNvSpPr/>
          <p:nvPr/>
        </p:nvSpPr>
        <p:spPr>
          <a:xfrm>
            <a:off x="96774000" y="661289000"/>
            <a:ext cx="935482000" cy="403225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6774000" y="661289000"/>
            <a:ext cx="935482000" cy="80645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45161000" y="701611500"/>
            <a:ext cx="83870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000" b="1">
                <a:solidFill>
                  <a:srgbClr val="EA580C"/>
                </a:solidFill>
                <a:latin typeface="Trebuchet MS" panose="020B0603020202020204" charset="0"/>
                <a:cs typeface="Trebuchet MS" panose="020B0603020202020204" charset="0"/>
              </a:rPr>
              <a:t>Server Monitor</a:t>
            </a:r>
            <a:endParaRPr lang="en-US" altLang="en-US" sz="2000" b="1">
              <a:solidFill>
                <a:srgbClr val="EA580C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5161000" y="822579000"/>
            <a:ext cx="83870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4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SSH remote management
Health check &amp; alert</a:t>
            </a:r>
            <a:endParaRPr lang="en-US" altLang="en-US" sz="14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" name="立方体 17"/>
          <p:cNvSpPr/>
          <p:nvPr/>
        </p:nvSpPr>
        <p:spPr>
          <a:xfrm>
            <a:off x="1112888300" y="661289000"/>
            <a:ext cx="935482000" cy="403225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112888300" y="661289000"/>
            <a:ext cx="935482000" cy="80645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61288000" y="701611500"/>
            <a:ext cx="83870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000" b="1">
                <a:solidFill>
                  <a:srgbClr val="7C3AED"/>
                </a:solidFill>
                <a:latin typeface="Trebuchet MS" panose="020B0603020202020204" charset="0"/>
                <a:cs typeface="Trebuchet MS" panose="020B0603020202020204" charset="0"/>
              </a:rPr>
              <a:t>Smart Reports</a:t>
            </a:r>
            <a:endParaRPr lang="en-US" altLang="en-US" sz="2000" b="1">
              <a:solidFill>
                <a:srgbClr val="7C3AED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61288000" y="822579000"/>
            <a:ext cx="83870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4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Prometheus metrics
Grafana dashboard</a:t>
            </a:r>
            <a:endParaRPr lang="en-US" altLang="en-US" sz="14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2147011200" cy="129032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6774000" y="24193500"/>
            <a:ext cx="1935480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200" b="1">
                <a:solidFill>
                  <a:srgbClr val="FFFFFF"/>
                </a:solidFill>
                <a:latin typeface="Trebuchet MS" panose="020B0603020202020204" charset="0"/>
                <a:cs typeface="Trebuchet MS" panose="020B0603020202020204" charset="0"/>
              </a:rPr>
              <a:t>Future Prospects</a:t>
            </a:r>
            <a:endParaRPr lang="en-US" altLang="en-US" sz="2200" b="1">
              <a:solidFill>
                <a:srgbClr val="FFFFF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29032000"/>
            <a:ext cx="2147011200" cy="48387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54835000" y="1145159000"/>
            <a:ext cx="241935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9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8/9</a:t>
            </a:r>
            <a:endParaRPr lang="en-US" altLang="en-US" sz="9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立方体 5"/>
          <p:cNvSpPr/>
          <p:nvPr/>
        </p:nvSpPr>
        <p:spPr>
          <a:xfrm>
            <a:off x="161290000" y="209677000"/>
            <a:ext cx="612889300" cy="725805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61290000" y="209677000"/>
            <a:ext cx="612889300" cy="80645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09677000" y="258064000"/>
            <a:ext cx="516128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200" b="1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Short-term</a:t>
            </a:r>
            <a:endParaRPr lang="en-US" altLang="en-US" sz="2200" b="1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9677000" y="387096000"/>
            <a:ext cx="516128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6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Improve multi-Agent
Optimize RAG effect
Expand template library</a:t>
            </a:r>
            <a:endParaRPr lang="en-US" altLang="en-US" sz="16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立方体 9"/>
          <p:cNvSpPr/>
          <p:nvPr/>
        </p:nvSpPr>
        <p:spPr>
          <a:xfrm>
            <a:off x="758063000" y="209677000"/>
            <a:ext cx="612889300" cy="725805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58063000" y="209677000"/>
            <a:ext cx="612889300" cy="8064500"/>
          </a:xfrm>
          <a:prstGeom prst="rect">
            <a:avLst/>
          </a:prstGeom>
          <a:solidFill>
            <a:srgbClr val="0D948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06450000" y="258064000"/>
            <a:ext cx="516128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200" b="1">
                <a:solidFill>
                  <a:srgbClr val="0D948F"/>
                </a:solidFill>
                <a:latin typeface="Trebuchet MS" panose="020B0603020202020204" charset="0"/>
                <a:cs typeface="Trebuchet MS" panose="020B0603020202020204" charset="0"/>
              </a:rPr>
              <a:t>Mid-term</a:t>
            </a:r>
            <a:endParaRPr lang="en-US" altLang="en-US" sz="2200" b="1">
              <a:solidFill>
                <a:srgbClr val="0D948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6450000" y="387096000"/>
            <a:ext cx="516128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6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Mobile app launch
More LLM integration
Open API ecosystem</a:t>
            </a:r>
            <a:endParaRPr lang="en-US" altLang="en-US" sz="16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4" name="立方体 13"/>
          <p:cNvSpPr/>
          <p:nvPr/>
        </p:nvSpPr>
        <p:spPr>
          <a:xfrm>
            <a:off x="1354836000" y="209677000"/>
            <a:ext cx="612889300" cy="7258050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354836000" y="209677000"/>
            <a:ext cx="612889300" cy="80645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403223000" y="258064000"/>
            <a:ext cx="516128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200" b="1">
                <a:solidFill>
                  <a:srgbClr val="EA580C"/>
                </a:solidFill>
                <a:latin typeface="Trebuchet MS" panose="020B0603020202020204" charset="0"/>
                <a:cs typeface="Trebuchet MS" panose="020B0603020202020204" charset="0"/>
              </a:rPr>
              <a:t>Long-term</a:t>
            </a:r>
            <a:endParaRPr lang="en-US" altLang="en-US" sz="2200" b="1">
              <a:solidFill>
                <a:srgbClr val="EA580C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03223000" y="387096000"/>
            <a:ext cx="516128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600">
                <a:solidFill>
                  <a:srgbClr val="1E293B"/>
                </a:solidFill>
                <a:latin typeface="Calibri" panose="020F0502020204030204" charset="0"/>
                <a:cs typeface="Calibri" panose="020F0502020204030204" charset="0"/>
              </a:rPr>
              <a:t>Full-chain AI job platform
From resume to onboarding
Intelligent closed loop</a:t>
            </a:r>
            <a:endParaRPr lang="en-US" altLang="en-US" sz="1600">
              <a:solidFill>
                <a:srgbClr val="1E293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61290000" y="1032256000"/>
            <a:ext cx="1827898300" cy="806450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61290000" y="1032256000"/>
            <a:ext cx="18278983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600" b="1">
                <a:solidFill>
                  <a:srgbClr val="FFFFFF"/>
                </a:solidFill>
                <a:latin typeface="Trebuchet MS" panose="020B0603020202020204" charset="0"/>
                <a:cs typeface="Trebuchet MS" panose="020B0603020202020204" charset="0"/>
              </a:rPr>
              <a:t>Let everyone find their ideal job</a:t>
            </a:r>
            <a:endParaRPr lang="en-US" altLang="en-US" sz="1600" b="1">
              <a:solidFill>
                <a:srgbClr val="FFFFF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854835000" y="1145159000"/>
            <a:ext cx="241935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9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9/9</a:t>
            </a:r>
            <a:endParaRPr lang="en-US" altLang="en-US" sz="9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7095000" y="322580000"/>
            <a:ext cx="376288300" cy="64516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1290000" y="370967000"/>
            <a:ext cx="18278983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5200" b="1">
                <a:solidFill>
                  <a:srgbClr val="1E293B"/>
                </a:solidFill>
                <a:latin typeface="Trebuchet MS" panose="020B0603020202020204" charset="0"/>
                <a:cs typeface="Trebuchet MS" panose="020B0603020202020204" charset="0"/>
              </a:rPr>
              <a:t>Thank You</a:t>
            </a:r>
            <a:endParaRPr lang="en-US" altLang="en-US" sz="5200" b="1">
              <a:solidFill>
                <a:srgbClr val="1E293B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1290000" y="580644000"/>
            <a:ext cx="18278983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>
                <a:solidFill>
                  <a:srgbClr val="0284C7"/>
                </a:solidFill>
                <a:latin typeface="Trebuchet MS" panose="020B0603020202020204" charset="0"/>
                <a:cs typeface="Trebuchet MS" panose="020B0603020202020204" charset="0"/>
              </a:rPr>
              <a:t>EasyApplyResume -- AI-powered Smart Job Platform</a:t>
            </a:r>
            <a:endParaRPr lang="en-US" altLang="en-US">
              <a:solidFill>
                <a:srgbClr val="0284C7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1290000" y="806450000"/>
            <a:ext cx="18278983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2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Spring Boot . Spring AI . MyBatis-Plus . Redis . PostgreSQL . React . Docker</a:t>
            </a:r>
            <a:endParaRPr lang="en-US" altLang="en-US" sz="12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1290000" y="903224000"/>
            <a:ext cx="18278983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100">
                <a:solidFill>
                  <a:srgbClr val="64748B"/>
                </a:solidFill>
                <a:latin typeface="Calibri" panose="020F0502020204030204" charset="0"/>
                <a:cs typeface="Calibri" panose="020F0502020204030204" charset="0"/>
              </a:rPr>
              <a:t>shiningCloud2025 2026</a:t>
            </a:r>
            <a:endParaRPr lang="en-US" altLang="en-US" sz="1100">
              <a:solidFill>
                <a:srgbClr val="64748B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/>
      <p:bldP spid="6" grpId="0"/>
      <p:bldP spid="7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2659</Words>
  <Application>WPS 演示</Application>
  <PresentationFormat>宽屏</PresentationFormat>
  <Paragraphs>222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Trebuchet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shini</dc:creator>
  <cp:lastModifiedBy>汤姆猫</cp:lastModifiedBy>
  <cp:revision>157</cp:revision>
  <dcterms:created xsi:type="dcterms:W3CDTF">2019-06-19T02:08:00Z</dcterms:created>
  <dcterms:modified xsi:type="dcterms:W3CDTF">2026-06-06T14:19:28Z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F342BAF0A71945F2BC73467B63FFE648_11</vt:lpwstr>
  </property>
</Properties>
</file>