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2F4A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97280" y="2331720"/>
            <a:ext cx="201168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7280" y="10972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EasyApplyResume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9659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易投简历 — AI 智能求职与简历管理平台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97280" y="2514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· ReAct Agent · RAG 知识库 · 多模型集成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3108960"/>
            <a:ext cx="2743200" cy="0"/>
          </a:xfrm>
          <a:prstGeom prst="line">
            <a:avLst/>
          </a:prstGeom>
          <a:noFill/>
          <a:ln w="15240">
            <a:solidFill>
              <a:srgbClr val="0EA5E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97280" y="33375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技术架构：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 + Java 21 + MySQL + PostgreSQL + Redis
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能力：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+ DashScope + 智谱AI + 豆包 + Ollama
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部署方式：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Nacos + Spring Boot Admin + Prometheus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32320" y="914400"/>
            <a:ext cx="1371600" cy="45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132320" y="1143000"/>
            <a:ext cx="137160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132320" y="1371600"/>
            <a:ext cx="1371600" cy="45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972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作者：shiningCloud2025 | 2026年6月</a:t>
            </a:r>
            <a:endParaRPr lang="en-US" sz="900" dirty="0"/>
          </a:p>
        </p:txBody>
      </p:sp>
    </p:spTree>
  </p:cSld>
  <p:timing>
    <p:tnLst>
      <p:par>
        <p:cTn id="9001" dur="indefinite" restart="never" nodeType="tmRoot">
          <p:childTnLst>
            <p:seq concurrent="1" nextAc="seek">
              <p:cTn id="9002" dur="indefinite" nodeType="mainSeq">
                <p:childTnLst>
                  <p:par>
                    <p:cTn id="9003" dur="600" fill="hold">
                      <p:stCondLst>
                        <p:cond delay="100"/>
                      </p:stCondLst>
                      <p:childTnLst>
                        <p:animEffect transition="in" filterType="zoom" zoomTransition="in">
                          <p:cBhvr>
                            <p:cTn id="9004" dur="6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9005" dur="500" fill="hold">
                      <p:stCondLst>
                        <p:cond delay="500"/>
                      </p:stCondLst>
                      <p:childTnLst>
                        <p:animEffect transition="in" filterType="fade">
                          <p:cBhvr>
                            <p:cTn id="9006"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9007" dur="500" fill="hold">
                      <p:stCondLst>
                        <p:cond delay="900"/>
                      </p:stCondLst>
                      <p:childTnLst>
                        <p:animEffect transition="in" filterType="fade">
                          <p:cBhvr>
                            <p:cTn id="9008"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9009" dur="500" fill="hold">
                      <p:stCondLst>
                        <p:cond delay="900"/>
                      </p:stCondLst>
                      <p:childTnLst>
                        <p:animEffect transition="in" filterType="fade">
                          <p:cBhvr>
                            <p:cTn id="9010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问题背景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当前求职市场的核心痛点与 AI 破局之道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188720"/>
            <a:ext cx="393192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1188720"/>
            <a:ext cx="45720" cy="15727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简历制作低效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7373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求职者缺乏专业指导，简历内容空洞、结构混乱、表达不专业，严重影响面试邀约率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188720"/>
            <a:ext cx="393192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800600" y="1188720"/>
            <a:ext cx="45720" cy="15727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2920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求职信息不对称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7373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求职者难以获取全面的职位信息、行业动态和公司评价，缺乏有效的决策依据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48640" y="2971800"/>
            <a:ext cx="45720" cy="157276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管理者运营负担重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5204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和管理员面临大量重复性的简历筛选、用户管理、数据统计工作，效率低下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971800"/>
            <a:ext cx="393192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800600" y="2971800"/>
            <a:ext cx="45720" cy="157276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02920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缺乏个性化服务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35204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传统求职平台千篇一律，无法根据个人背景和目标岗位提供量身定制的优化建议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8046720" cy="228600"/>
          </a:xfrm>
          <a:prstGeom prst="rect">
            <a:avLst/>
          </a:prstGeom>
          <a:solidFill>
            <a:srgbClr val="0EA5E9">
              <a:alpha val="12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5800" y="45720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核心思路：基于 Spring AI 生态，构建 AI Agent 驱动的智能求职助手，实现简历优化、智能问答、自动化运营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· 2 / 9</a:t>
            </a:r>
            <a:endParaRPr lang="en-US" sz="750" dirty="0"/>
          </a:p>
        </p:txBody>
      </p:sp>
    </p:spTree>
  </p:cSld>
  <p:transition spd="med" advTm="400">
    <p:fade/>
  </p:transition>
  <p:timing>
    <p:tnLst>
      <p:par>
        <p:cTn id="9011" dur="indefinite" restart="never" nodeType="tmRoot">
          <p:childTnLst>
            <p:seq concurrent="1" nextAc="seek">
              <p:cTn id="9012" dur="indefinite" nodeType="mainSeq">
                <p:childTnLst>
                  <p:par>
                    <p:cTn id="9013" dur="40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9014" dur="4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9015" dur="400" fill="hold">
                      <p:stCondLst>
                        <p:cond delay="400"/>
                      </p:stCondLst>
                      <p:childTnLst>
                        <p:animEffect transition="in" filterType="fly" from="l">
                          <p:cBhvr>
                            <p:cTn id="9016" dur="4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9017" dur="400" fill="hold">
                      <p:stCondLst>
                        <p:cond delay="600"/>
                      </p:stCondLst>
                      <p:childTnLst>
                        <p:animEffect transition="in" filterType="fly" from="r">
                          <p:cBhvr>
                            <p:cTn id="9018" dur="4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9019" dur="400" fill="hold">
                      <p:stCondLst>
                        <p:cond delay="800"/>
                      </p:stCondLst>
                      <p:childTnLst>
                        <p:animEffect transition="in" filterType="fly" from="l">
                          <p:cBhvr>
                            <p:cTn id="9020" dur="4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9021" dur="400" fill="hold">
                      <p:stCondLst>
                        <p:cond delay="1000"/>
                      </p:stCondLst>
                      <p:childTnLst>
                        <p:animEffect transition="in" filterType="fly" from="r">
                          <p:cBhvr>
                            <p:cTn id="9022" dur="4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9023" dur="400" fill="hold">
                      <p:stCondLst>
                        <p:cond delay="1400"/>
                      </p:stCondLst>
                      <p:childTnLst>
                        <p:animEffect transition="in" filterType="fade">
                          <p:cBhvr>
                            <p:cTn id="9024" dur="4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技术选型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 + Java 21 微服务架构，多层次 AI 能力集成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234440"/>
            <a:ext cx="2697480" cy="38404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2344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基础框架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2697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21792" y="17373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 (Java 21)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49424"/>
            <a:ext cx="2697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" y="224942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MyBatis-Plus 3.5.7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761488"/>
            <a:ext cx="2697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" y="276148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273552"/>
            <a:ext cx="2697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1792" y="327355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Nacos 配置/服务发现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2697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1792" y="378561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容器化部署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83280" y="1234440"/>
            <a:ext cx="2697480" cy="38404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383280" y="12344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&amp; LLM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83280" y="1737360"/>
            <a:ext cx="2697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547872" y="17373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1.0.0-M6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83280" y="2249424"/>
            <a:ext cx="2697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547872" y="224942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通义千问 (DashScope)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83280" y="2761488"/>
            <a:ext cx="2697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547872" y="276148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智谱AI (GLM-4)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83280" y="3273552"/>
            <a:ext cx="2697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547872" y="327355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豆包 (OpenAI 协议)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83280" y="3785616"/>
            <a:ext cx="2697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547872" y="378561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本地模型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09360" y="1234440"/>
            <a:ext cx="2697480" cy="38404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309360" y="12344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数据与存储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09360" y="1737360"/>
            <a:ext cx="2697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73952" y="17373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(主库)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09360" y="2249424"/>
            <a:ext cx="2697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473952" y="224942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09360" y="2761488"/>
            <a:ext cx="2697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473952" y="276148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(缓存/JWT)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309360" y="3273552"/>
            <a:ext cx="2697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473952" y="327355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/ 七牛云 OSS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09360" y="3785616"/>
            <a:ext cx="2697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473952" y="378561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Redis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" y="4005072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457200" y="4005072"/>
            <a:ext cx="45720" cy="5029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85800" y="4023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能力矩阵：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Agent · RAG 检索增强 · MCP 客户端 · 多模型适配 · 向量数据库 · Function Calling · 对话记忆 · 敏感词过滤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· 3 / 9</a:t>
            </a:r>
            <a:endParaRPr lang="en-US" sz="750" dirty="0"/>
          </a:p>
        </p:txBody>
      </p:sp>
    </p:spTree>
  </p:cSld>
  <p:transition spd="med" advTm="400">
    <p:push dir="l"/>
  </p:transition>
  <p:timing>
    <p:tnLst>
      <p:par>
        <p:cTn id="9025" dur="indefinite" restart="never" nodeType="tmRoot">
          <p:childTnLst>
            <p:seq concurrent="1" nextAc="seek">
              <p:cTn id="9026" dur="indefinite" nodeType="mainSeq">
                <p:childTnLst>
                  <p:par>
                    <p:cTn id="9027" dur="40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9028" dur="4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9029" dur="400" fill="hold">
                      <p:stCondLst>
                        <p:cond delay="400"/>
                      </p:stCondLst>
                      <p:childTnLst>
                        <p:animEffect transition="in" filterType="wipe" from="t">
                          <p:cBhvr>
                            <p:cTn id="9030" dur="4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9031" dur="400" fill="hold">
                      <p:stCondLst>
                        <p:cond delay="600"/>
                      </p:stCondLst>
                      <p:childTnLst>
                        <p:animEffect transition="in" filterType="wipe" from="t">
                          <p:cBhvr>
                            <p:cTn id="9032" dur="4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9033" dur="400" fill="hold">
                      <p:stCondLst>
                        <p:cond delay="800"/>
                      </p:stCondLst>
                      <p:childTnLst>
                        <p:animEffect transition="in" filterType="wipe" from="t">
                          <p:cBhvr>
                            <p:cTn id="9034" dur="4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智能体架构设计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自研 ReAct Agent 模式：思考→行动循环 + 工具调用 + RAG 增强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188720"/>
            <a:ext cx="411480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2618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继承体系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43000" y="1737360"/>
            <a:ext cx="2926080" cy="6858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43000" y="17739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20848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状态管理 · 步骤循环 · 流式 SSE · 资源清理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06040" y="2423160"/>
            <a:ext cx="0" cy="32004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960120" y="2743200"/>
            <a:ext cx="3291840" cy="68580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0120" y="27797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ReActAgent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30906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&amp; Act 模式 · 思考-行动循环 · 步骤编排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06040" y="3429000"/>
            <a:ext cx="0" cy="32004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77240" y="3749040"/>
            <a:ext cx="3657600" cy="68580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37856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ToolCallAgent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096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工具调用管理 · 对话上下文维护 · 终止判断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92040" y="1188720"/>
            <a:ext cx="379476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074920" y="126187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核心组件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74920" y="1691640"/>
            <a:ext cx="34290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074920" y="1691640"/>
            <a:ext cx="45720" cy="38404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285232" y="170992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ChatMemory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85232" y="1892808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内存混合持久化，多轮对话上下文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74920" y="2130552"/>
            <a:ext cx="34290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074920" y="2130552"/>
            <a:ext cx="45720" cy="38404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285232" y="214884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Advisor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85232" y="2331720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向量库 + 云知识库 + 查询重写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74920" y="2569464"/>
            <a:ext cx="34290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5074920" y="2569464"/>
            <a:ext cx="45720" cy="38404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285232" y="25877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Tools（8个）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85232" y="2770632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网页搜索 · 终端操作 · 文件管理 · PDF生成 · 邮件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074920" y="3008376"/>
            <a:ext cx="34290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5074920" y="3008376"/>
            <a:ext cx="45720" cy="38404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285232" y="302666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敏感词过滤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85232" y="3209544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用户端/管理端双套 Advisor，覆盖百种违规类型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074920" y="3447288"/>
            <a:ext cx="34290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5074920" y="3447288"/>
            <a:ext cx="45720" cy="38404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285232" y="346557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Client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285232" y="3648456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/ SSE 协议 MCP 工具集成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074920" y="3886200"/>
            <a:ext cx="34290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5074920" y="3886200"/>
            <a:ext cx="45720" cy="38404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285232" y="390448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Router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285232" y="4087368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DashScope / 智谱 / 豆包 / Ollama 自由切换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31520" y="454456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ResumeAssistantAgent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C端简历助手　　　</a:t>
            </a:r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SystemAssistantAgent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B端管理助手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· 4 / 9</a:t>
            </a:r>
            <a:endParaRPr lang="en-US" sz="750" dirty="0"/>
          </a:p>
        </p:txBody>
      </p:sp>
    </p:spTree>
  </p:cSld>
  <p:transition spd="med" advTm="400">
    <p:cover dir="r"/>
  </p:transition>
  <p:timing>
    <p:tnLst>
      <p:par>
        <p:cTn id="9035" dur="indefinite" restart="never" nodeType="tmRoot">
          <p:childTnLst>
            <p:seq concurrent="1" nextAc="seek">
              <p:cTn id="9036" dur="indefinite" nodeType="mainSeq">
                <p:childTnLst>
                  <p:par>
                    <p:cTn id="9037" dur="40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9038" dur="4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9039" dur="400" fill="hold">
                      <p:stCondLst>
                        <p:cond delay="400"/>
                      </p:stCondLst>
                      <p:childTnLst>
                        <p:animEffect transition="in" filterType="fly" from="b">
                          <p:cBhvr>
                            <p:cTn id="9040" dur="4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9041" dur="400" fill="hold">
                      <p:stCondLst>
                        <p:cond delay="600"/>
                      </p:stCondLst>
                      <p:childTnLst>
                        <p:animEffect transition="in" filterType="fly" from="b">
                          <p:cBhvr>
                            <p:cTn id="9042" dur="4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9043" dur="400" fill="hold">
                      <p:stCondLst>
                        <p:cond delay="800"/>
                      </p:stCondLst>
                      <p:childTnLst>
                        <p:animEffect transition="in" filterType="fly" from="b">
                          <p:cBhvr>
                            <p:cTn id="9044" dur="4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核心功能：C端 — AI 简历助手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面向求职者的全流程 AI 辅助：从简历优化到求职决策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188720"/>
            <a:ext cx="269748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188720"/>
            <a:ext cx="45720" cy="162763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188720"/>
            <a:ext cx="269748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325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智能简历润色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语法优化 · 专业表达 · 结构重组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量化成果 · STAR 法则改写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188720"/>
            <a:ext cx="269748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337560" y="1188720"/>
            <a:ext cx="45720" cy="162763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337560" y="1188720"/>
            <a:ext cx="269748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520440" y="1325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定制化建议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17373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按行业/岗位定制 · 保研/留学适配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多版本输出 · 关键词优化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69748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17920" y="1188720"/>
            <a:ext cx="45720" cy="162763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217920" y="1188720"/>
            <a:ext cx="269748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0" y="1325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知识增强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17373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向量库 · 云知识库检索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查询重写优化 · 实时行业数据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269748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57200" y="3017520"/>
            <a:ext cx="45720" cy="162763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57200" y="3017520"/>
            <a:ext cx="2697480" cy="45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工具调用能力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35661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联网搜索 · 简历 PDF 生成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邮件发送 · 网页数据抓取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37560" y="3017520"/>
            <a:ext cx="269748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3337560" y="3017520"/>
            <a:ext cx="45720" cy="162763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3337560" y="3017520"/>
            <a:ext cx="2697480" cy="45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52044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流式对话体验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520440" y="35661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实时流式输出 · 多轮上下文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混合持久化记忆 · 敏感词过滤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3017520"/>
            <a:ext cx="269748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17920" y="3017520"/>
            <a:ext cx="45720" cy="162763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217920" y="3017520"/>
            <a:ext cx="2697480" cy="45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40080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求职生态服务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0" y="35661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职位/收藏 · 简历模板 · 面试题库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行业资讯 · 地区数据查询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· 5 / 9</a:t>
            </a:r>
            <a:endParaRPr lang="en-US" sz="750" dirty="0"/>
          </a:p>
        </p:txBody>
      </p:sp>
    </p:spTree>
  </p:cSld>
  <p:transition spd="med" advTm="400">
    <p:wipe dir="l"/>
  </p:transition>
  <p:timing>
    <p:tnLst>
      <p:par>
        <p:cTn id="9045" dur="indefinite" restart="never" nodeType="tmRoot">
          <p:childTnLst>
            <p:seq concurrent="1" nextAc="seek">
              <p:cTn id="9046" dur="indefinite" nodeType="mainSeq">
                <p:childTnLst>
                  <p:par>
                    <p:cTn id="9047" dur="40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9048" dur="4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9049" dur="400" fill="hold">
                      <p:stCondLst>
                        <p:cond delay="540"/>
                      </p:stCondLst>
                      <p:childTnLst>
                        <p:animEffect transition="in" filterType="fade">
                          <p:cBhvr>
                            <p:cTn id="9050" dur="4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9051" dur="400" fill="hold">
                      <p:stCondLst>
                        <p:cond delay="780"/>
                      </p:stCondLst>
                      <p:childTnLst>
                        <p:animEffect transition="in" filterType="fade">
                          <p:cBhvr>
                            <p:cTn id="9052" dur="4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9053" dur="400" fill="hold">
                      <p:stCondLst>
                        <p:cond delay="1020"/>
                      </p:stCondLst>
                      <p:childTnLst>
                        <p:animEffect transition="in" filterType="fade">
                          <p:cBhvr>
                            <p:cTn id="9054" dur="4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9055" dur="400" fill="hold">
                      <p:stCondLst>
                        <p:cond delay="1260"/>
                      </p:stCondLst>
                      <p:childTnLst>
                        <p:animEffect transition="in" filterType="fade">
                          <p:cBhvr>
                            <p:cTn id="9056" dur="4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9057" dur="400" fill="hold">
                      <p:stCondLst>
                        <p:cond delay="1500"/>
                      </p:stCondLst>
                      <p:childTnLst>
                        <p:animEffect transition="in" filterType="fade">
                          <p:cBhvr>
                            <p:cTn id="9058" dur="4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  <p:par>
                    <p:cTn id="9059" dur="400" fill="hold">
                      <p:stCondLst>
                        <p:cond delay="1740"/>
                      </p:stCondLst>
                      <p:childTnLst>
                        <p:animEffect transition="in" filterType="fade">
                          <p:cBhvr>
                            <p:cTn id="9060" dur="4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核心功能：B端 — AI 系统管理助手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面向管理员的 AI 运维辅助：权限管理 · 内容运营 · 数据监控 · 智能诊断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188720"/>
            <a:ext cx="48463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188720"/>
            <a:ext cx="45720" cy="59436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23444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管理员管理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490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增删改查 · RBAC 角色权限分配 · 账户状态管理 · 登录日志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48463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1874520"/>
            <a:ext cx="45720" cy="59436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192024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内容运营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1762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公告/广告管理 · FAQ 问答库 · 项目/团队介绍 · 合作伙伴 · 媒体报道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48463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2560320"/>
            <a:ext cx="45720" cy="59436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" y="260604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数据管理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28620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省市区地图 · 行业分类 · 大学库 · 职位库 · 简历模板 · 求职攻略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48463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3246120"/>
            <a:ext cx="45720" cy="59436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31520" y="329184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运营工具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5478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评分模型训练数据 · 模型版本管理 · LLM 工具配置 · 邮件通信群发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48463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57200" y="3931920"/>
            <a:ext cx="45720" cy="59436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31520" y="397764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监控统计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2336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日活/访问量统计 · 服务机器监控 · Prometheus + Grafana 指标体系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77840" y="1188720"/>
            <a:ext cx="32004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577840" y="1188720"/>
            <a:ext cx="3200400" cy="4114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577840" y="1188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管理助手能力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715000" y="1847088"/>
            <a:ext cx="164592" cy="16459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989320" y="178308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引导式故障诊断与排查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15000" y="2176272"/>
            <a:ext cx="164592" cy="16459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989320" y="211226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系统配置与运维指导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15000" y="2505456"/>
            <a:ext cx="164592" cy="16459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989320" y="2441448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数据报表智能解读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715000" y="2834640"/>
            <a:ext cx="164592" cy="16459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989320" y="2770632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用户/简历问题快速定位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715000" y="3163824"/>
            <a:ext cx="164592" cy="16459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989320" y="3099816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+ RAG + 工具调用增强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715000" y="3493008"/>
            <a:ext cx="164592" cy="16459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989320" y="342900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独立对话记忆管理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715000" y="3822192"/>
            <a:ext cx="164592" cy="16459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989320" y="375818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管理端专属敏感词过滤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715000" y="4151376"/>
            <a:ext cx="164592" cy="16459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989320" y="4087368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Re2 重读增强理解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· 6 / 9</a:t>
            </a:r>
            <a:endParaRPr lang="en-US" sz="750" dirty="0"/>
          </a:p>
        </p:txBody>
      </p:sp>
    </p:spTree>
  </p:cSld>
  <p:transition spd="med" advTm="400">
    <p:uncover dir="d"/>
  </p:transition>
  <p:timing>
    <p:tnLst>
      <p:par>
        <p:cTn id="9061" dur="indefinite" restart="never" nodeType="tmRoot">
          <p:childTnLst>
            <p:seq concurrent="1" nextAc="seek">
              <p:cTn id="9062" dur="indefinite" nodeType="mainSeq">
                <p:childTnLst>
                  <p:par>
                    <p:cTn id="9063" dur="40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9064" dur="4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9065" dur="400" fill="hold">
                      <p:stCondLst>
                        <p:cond delay="550"/>
                      </p:stCondLst>
                      <p:childTnLst>
                        <p:animEffect transition="in" filterType="wipe" from="l">
                          <p:cBhvr>
                            <p:cTn id="9066" dur="4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9067" dur="400" fill="hold">
                      <p:stCondLst>
                        <p:cond delay="700"/>
                      </p:stCondLst>
                      <p:childTnLst>
                        <p:animEffect transition="in" filterType="wipe" from="l">
                          <p:cBhvr>
                            <p:cTn id="9068" dur="4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9069" dur="400" fill="hold">
                      <p:stCondLst>
                        <p:cond delay="1000"/>
                      </p:stCondLst>
                      <p:childTnLst>
                        <p:animEffect transition="in" filterType="wipe" from="l">
                          <p:cBhvr>
                            <p:cTn id="9070" dur="4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9071" dur="400" fill="hold">
                      <p:stCondLst>
                        <p:cond delay="1300"/>
                      </p:stCondLst>
                      <p:childTnLst>
                        <p:animEffect transition="in" filterType="wipe" from="l">
                          <p:cBhvr>
                            <p:cTn id="9072" dur="4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9073" dur="400" fill="hold">
                      <p:stCondLst>
                        <p:cond delay="1600"/>
                      </p:stCondLst>
                      <p:childTnLst>
                        <p:animEffect transition="in" filterType="wipe" from="l">
                          <p:cBhvr>
                            <p:cTn id="9074" dur="4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9075" dur="400" fill="hold">
                      <p:stCondLst>
                        <p:cond delay="1900"/>
                      </p:stCondLst>
                      <p:childTnLst>
                        <p:animEffect transition="in" filterType="wipe" from="l">
                          <p:cBhvr>
                            <p:cTn id="9076" dur="4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核心代码实现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Agent 思考执行 · 工具调用 · 双安全过滤链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1097280"/>
            <a:ext cx="4160520" cy="3383280"/>
          </a:xfrm>
          <a:prstGeom prst="rect">
            <a:avLst/>
          </a:prstGeom>
          <a:solidFill>
            <a:srgbClr val="0C1B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1247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ToolCallAgent.think() 方法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ToolCallAgent.java — think() 思考阶段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boolean think() {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(getNextStepPrompt() != null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&amp;&amp; !getNextStepPrompt().isEmpty()) {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getMessageList().add(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UserMessage(getNextStepPrompt()));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Prompt prompt = new Prompt(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getMessageList(), chatOptions);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ChatResponse chatResponse = getChatClient()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.prompt(prompt)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.system(getSystemPrompt())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.tools(availableTools)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.call()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.chatResponse();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this.toolCallChatResponse = chatResponse;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AssistantMessage assistantMessage =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chatResponse.getResult().getOutput();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List&lt;ToolCall&gt; toolCallsList =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assistantMessage.getToolCalls();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(toolCallsList.isEmpty()) {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getMessageList().add(assistantMessage);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false;  // 无需工具调用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true;  // 需要执行工具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4617720" y="1097280"/>
            <a:ext cx="4160520" cy="3383280"/>
          </a:xfrm>
          <a:prstGeom prst="rect">
            <a:avLst/>
          </a:prstGeom>
          <a:solidFill>
            <a:srgbClr val="0C1B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754880" y="11247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UserSecurityConfig 安全配置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双 SecurityFilterChain 配置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@Configuration @EnableWebSecurity @Order(1)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UserSecurityConfig {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@Bean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public SecurityFilterChain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userSecurityFilterChain(HttpSecurity http){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http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.securityMatcher("/user/**")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.cors(...)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.csrf(AbstractHttpConfigurer::disable)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.sessionManagement(session-&gt;session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.sessionCreationPolicy(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SessionCreationPolicy.STATELESS))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.authorizeHttpRequests(auth-&gt;auth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.requestMatchers(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"/user/auth/**").permitAll()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.requestMatchers(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"/user/sms/**").permitAll()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.anyRequest().authenticated())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.exceptionHandling(ex-&gt;ex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.authenticationEntryPoint(...))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.addFilterBefore(userJwtAuthFilter,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UsernamePasswordAuthFilter.class);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return http.build();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365760" y="4544568"/>
            <a:ext cx="8412480" cy="201168"/>
          </a:xfrm>
          <a:prstGeom prst="rect">
            <a:avLst/>
          </a:prstGeom>
          <a:solidFill>
            <a:srgbClr val="0EA5E9">
              <a:alpha val="15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" y="454456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以上代码均来自项目真实源码：ToolCallAgent.java（think 方法） 与 UserSecurityConfig.java（双 FilterChain 安全配置）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· 7 / 9</a:t>
            </a:r>
            <a:endParaRPr lang="en-US" sz="750" dirty="0"/>
          </a:p>
        </p:txBody>
      </p:sp>
    </p:spTree>
  </p:cSld>
  <p:transition spd="med" advTm="400">
    <p:fade/>
  </p:transition>
  <p:timing>
    <p:tnLst>
      <p:par>
        <p:cTn id="9077" dur="indefinite" restart="never" nodeType="tmRoot">
          <p:childTnLst>
            <p:seq concurrent="1" nextAc="seek">
              <p:cTn id="9078" dur="indefinite" nodeType="mainSeq">
                <p:childTnLst>
                  <p:par>
                    <p:cTn id="9079" dur="40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9080" dur="4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9081" dur="500" fill="hold">
                      <p:stCondLst>
                        <p:cond delay="300"/>
                      </p:stCondLst>
                      <p:childTnLst>
                        <p:animEffect transition="in" filterType="wipe" from="l">
                          <p:cBhvr>
                            <p:cTn id="9082"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9083" dur="500" fill="hold">
                      <p:stCondLst>
                        <p:cond delay="600"/>
                      </p:stCondLst>
                      <p:childTnLst>
                        <p:animEffect transition="in" filterType="wipe" from="r">
                          <p:cBhvr>
                            <p:cTn id="9084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9085" dur="500" fill="hold">
                      <p:stCondLst>
                        <p:cond delay="600"/>
                      </p:stCondLst>
                      <p:childTnLst>
                        <p:animEffect transition="in" filterType="wipe" from="r">
                          <p:cBhvr>
                            <p:cTn id="9086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9087" dur="500" fill="hold">
                      <p:stCondLst>
                        <p:cond delay="600"/>
                      </p:stCondLst>
                      <p:childTnLst>
                        <p:animEffect transition="in" filterType="wipe" from="r">
                          <p:cBhvr>
                            <p:cTn id="9088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未来前景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持续迭代 · 拥抱 AI 前沿 · 打造全链路智能求职生态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1234440"/>
            <a:ext cx="2697480" cy="41148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65760" y="12344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近期 (1-3月)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64792"/>
            <a:ext cx="2697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65760" y="1764792"/>
            <a:ext cx="45720" cy="47548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176479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前端界面开发完成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313432"/>
            <a:ext cx="2697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65760" y="2313432"/>
            <a:ext cx="45720" cy="47548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" y="231343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多租户 SaaS 化改造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862072"/>
            <a:ext cx="2697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65760" y="2862072"/>
            <a:ext cx="45720" cy="47548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48640" y="286207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接入更多 LLM（DeepSeek 等）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410712"/>
            <a:ext cx="2697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65760" y="3410712"/>
            <a:ext cx="45720" cy="47548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48640" y="341071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简历评分模型上线 (XGBoost)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91840" y="1234440"/>
            <a:ext cx="2697480" cy="4114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291840" y="12344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中期 (3-6月)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91840" y="1764792"/>
            <a:ext cx="2697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291840" y="1764792"/>
            <a:ext cx="45720" cy="47548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474720" y="176479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微服务化拆分 (Spring Cloud)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91840" y="2313432"/>
            <a:ext cx="2697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291840" y="2313432"/>
            <a:ext cx="45720" cy="47548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474720" y="231343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全链路可观测性增强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91840" y="2862072"/>
            <a:ext cx="2697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3291840" y="2862072"/>
            <a:ext cx="45720" cy="47548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474720" y="286207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智能岗位匹配推荐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91840" y="3410712"/>
            <a:ext cx="2697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3291840" y="3410712"/>
            <a:ext cx="45720" cy="47548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474720" y="341071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移动端适配（小程序）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17920" y="1234440"/>
            <a:ext cx="2697480" cy="4114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217920" y="12344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远期 (6-12月)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17920" y="1764792"/>
            <a:ext cx="2697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217920" y="1764792"/>
            <a:ext cx="45720" cy="4754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400800" y="176479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Agent 协作架构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17920" y="2313432"/>
            <a:ext cx="2697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6217920" y="2313432"/>
            <a:ext cx="45720" cy="4754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400800" y="231343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模拟面试与反馈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17920" y="2862072"/>
            <a:ext cx="2697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6217920" y="2862072"/>
            <a:ext cx="45720" cy="4754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400800" y="286207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企业端 AI 筛选助手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17920" y="3410712"/>
            <a:ext cx="2697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6217920" y="3410712"/>
            <a:ext cx="45720" cy="4754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400800" y="341071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构建求职知识图谱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65760" y="4069080"/>
            <a:ext cx="841248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48640" y="4069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愿景：成为求职者最信赖的 AI 求职伙伴，用人均 AI 赋能每位求职者找到理想工作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· 8 / 9</a:t>
            </a:r>
            <a:endParaRPr lang="en-US" sz="750" dirty="0"/>
          </a:p>
        </p:txBody>
      </p:sp>
    </p:spTree>
  </p:cSld>
  <p:transition spd="med" advTm="400">
    <p:push dir="r"/>
  </p:transition>
  <p:timing>
    <p:tnLst>
      <p:par>
        <p:cTn id="9089" dur="indefinite" restart="never" nodeType="tmRoot">
          <p:childTnLst>
            <p:seq concurrent="1" nextAc="seek">
              <p:cTn id="9090" dur="indefinite" nodeType="mainSeq">
                <p:childTnLst>
                  <p:par>
                    <p:cTn id="9091" dur="40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9092" dur="4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9093" dur="400" fill="hold">
                      <p:stCondLst>
                        <p:cond delay="400"/>
                      </p:stCondLst>
                      <p:childTnLst>
                        <p:animEffect transition="in" filterType="zoom" zoomTransition="in">
                          <p:cBhvr>
                            <p:cTn id="9094" dur="4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9095" dur="400" fill="hold">
                      <p:stCondLst>
                        <p:cond delay="700"/>
                      </p:stCondLst>
                      <p:childTnLst>
                        <p:animEffect transition="in" filterType="zoom" zoomTransition="in">
                          <p:cBhvr>
                            <p:cTn id="9096" dur="4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9097" dur="400" fill="hold">
                      <p:stCondLst>
                        <p:cond delay="1000"/>
                      </p:stCondLst>
                      <p:childTnLst>
                        <p:animEffect transition="in" filterType="zoom" zoomTransition="in">
                          <p:cBhvr>
                            <p:cTn id="9098" dur="4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  <p:par>
                    <p:cTn id="9099" dur="600" fill="hold">
                      <p:stCondLst>
                        <p:cond delay="1400"/>
                      </p:stCondLst>
                      <p:childTnLst>
                        <p:animEffect transition="in" filterType="fade">
                          <p:cBhvr>
                            <p:cTn id="9100" dur="6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1005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致  谢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657600" y="1965960"/>
            <a:ext cx="182880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71600" y="228600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感谢各位老师和同学对 EasyApplyResume 项目的关注与支持
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本项目基于 Spring AI 生态，探索了 AI Agent 在求职领域的应用
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从自研 ReAct Agent 到 RAG 增强检索，从多模型适配到工具集成
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这是一次将前沿 AI 技术与实际业务场景结合的有益尝试
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技术栈：</a:t>
            </a:r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 · Spring AI · MyBatis-Plus · PgVector · Redis · Nacos · Docker
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模型：</a:t>
            </a:r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通义千问 · 智谱AI (GLM-4) · 豆包 · Ollama
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shining_cloud2025@163.com
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github.com/shiningCloud2025</a:t>
            </a:r>
            <a:endParaRPr lang="en-US" sz="1500" dirty="0"/>
          </a:p>
        </p:txBody>
      </p:sp>
    </p:spTree>
  </p:cSld>
  <p:transition spd="med" advTm="400">
    <p:dissolve/>
  </p:transition>
  <p:timing>
    <p:tnLst>
      <p:par>
        <p:cTn id="9101" dur="indefinite" restart="never" nodeType="tmRoot">
          <p:childTnLst>
            <p:seq concurrent="1" nextAc="seek">
              <p:cTn id="9102" dur="indefinite" nodeType="mainSeq">
                <p:childTnLst>
                  <p:par>
                    <p:cTn id="9103" dur="800" fill="hold">
                      <p:stCondLst>
                        <p:cond delay="100"/>
                      </p:stCondLst>
                      <p:childTnLst>
                        <p:animEffect transition="in" filterType="zoom" zoomTransition="in">
                          <p:cBhvr>
                            <p:cTn id="9104" dur="8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9105" dur="800" fill="hold">
                      <p:stCondLst>
                        <p:cond delay="600"/>
                      </p:stCondLst>
                      <p:childTnLst>
                        <p:animEffect transition="in" filterType="fade">
                          <p:cBhvr>
                            <p:cTn id="9106" dur="8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EasyApplyResume - 易投简历智能平台</dc:title>
  <dc:subject>PptxGenJS Presentation</dc:subject>
  <dc:creator>shiningCloud2025</dc:creator>
  <cp:lastModifiedBy>shiningCloud2025</cp:lastModifiedBy>
  <cp:revision>1</cp:revision>
  <dcterms:created xsi:type="dcterms:W3CDTF">2026-06-06T07:55:08Z</dcterms:created>
  <dcterms:modified xsi:type="dcterms:W3CDTF">2026-06-06T07:55:08Z</dcterms:modified>
</cp:coreProperties>
</file>