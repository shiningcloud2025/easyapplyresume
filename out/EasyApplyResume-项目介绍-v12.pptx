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1828800"/>
            <a:ext cx="54864" cy="22860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0F172A"/>
                </a:solidFill>
                <a:latin typeface="Trebuchet MS"/>
              </a:defRPr>
            </a:pPr>
            <a:r>
              <a:t>EasyApplyResume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9260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0284C7"/>
                </a:solidFill>
                <a:latin typeface="Trebuchet MS"/>
              </a:defRPr>
            </a:pPr>
            <a:r>
              <a:t>AI 驱动的智能求职与管理平台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3840480"/>
            <a:ext cx="4572000" cy="18288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4114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Spring Boot . Spring AI . MyBatis-Plus . Redis . PostgreSQL . React . Docker</a:t>
            </a:r>
          </a:p>
        </p:txBody>
      </p:sp>
    </p:spTree>
  </p:cSld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问题背景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2/9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097280"/>
            <a:ext cx="53035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097280"/>
            <a:ext cx="54864" cy="219456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28016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284C7"/>
                </a:solidFill>
                <a:latin typeface="Trebuchet MS"/>
              </a:defRPr>
            </a:pPr>
            <a:r>
              <a:t>简历制作低效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874520"/>
            <a:ext cx="4754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Calibri"/>
              </a:defRPr>
            </a:pPr>
            <a:r>
              <a:t>海量模板难以选择</a:t>
            </a:r>
            <a:br/>
            <a:r>
              <a:t>手动排版耗时费力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59" y="1097280"/>
            <a:ext cx="53035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59" y="1097280"/>
            <a:ext cx="54864" cy="2194560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79" y="128016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D948F"/>
                </a:solidFill>
                <a:latin typeface="Trebuchet MS"/>
              </a:defRPr>
            </a:pPr>
            <a:r>
              <a:t>信息不对称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79" y="1874520"/>
            <a:ext cx="4754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Calibri"/>
              </a:defRPr>
            </a:pPr>
            <a:r>
              <a:t>不了解企业真实需求</a:t>
            </a:r>
            <a:br/>
            <a:r>
              <a:t>JD 与简历匹配度低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703320"/>
            <a:ext cx="53035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703320"/>
            <a:ext cx="54864" cy="219456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88620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A580C"/>
                </a:solidFill>
                <a:latin typeface="Trebuchet MS"/>
              </a:defRPr>
            </a:pPr>
            <a:r>
              <a:t>运营负担重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480560"/>
            <a:ext cx="4754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Calibri"/>
              </a:defRPr>
            </a:pPr>
            <a:r>
              <a:t>海量数据需手动管理</a:t>
            </a:r>
            <a:br/>
            <a:r>
              <a:t>缺乏智能化运营工具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59" y="3703320"/>
            <a:ext cx="53035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59" y="3703320"/>
            <a:ext cx="54864" cy="21945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79" y="388620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C3AED"/>
                </a:solidFill>
                <a:latin typeface="Trebuchet MS"/>
              </a:defRPr>
            </a:pPr>
            <a:r>
              <a:t>缺乏个性化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79" y="4480560"/>
            <a:ext cx="4754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Calibri"/>
              </a:defRPr>
            </a:pPr>
            <a:r>
              <a:t>通用模板不匹配行业</a:t>
            </a:r>
            <a:br/>
            <a:r>
              <a:t>缺少 AI 辅助优化</a:t>
            </a:r>
          </a:p>
        </p:txBody>
      </p:sp>
    </p:spTree>
  </p:cSld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技术选型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3/9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97280"/>
            <a:ext cx="3474720" cy="4572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0972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Trebuchet MS"/>
              </a:defRPr>
            </a:pPr>
            <a:r>
              <a:t>基础框架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828800"/>
            <a:ext cx="347472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90195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Spring Boot 3.3.5 + Java 21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331720"/>
            <a:ext cx="347472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40487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Spring Security 双链认证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834640"/>
            <a:ext cx="347472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90779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MyBatis-Plus 3.5.7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337560"/>
            <a:ext cx="347472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41071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Nacos 配置中心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97679" y="1097280"/>
            <a:ext cx="3474720" cy="457200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19" y="10972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Trebuchet MS"/>
              </a:defRPr>
            </a:pPr>
            <a:r>
              <a:t>AI &amp; LLM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79" y="1828800"/>
            <a:ext cx="347472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34839" y="190195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Spring AI 多模型适配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79" y="2331720"/>
            <a:ext cx="347472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34839" y="240487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ReAct Agent 智能体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97679" y="2834640"/>
            <a:ext cx="347472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34839" y="290779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RAG 检索增强生成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97679" y="3337560"/>
            <a:ext cx="347472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34839" y="341071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DashScope / 智谱 / Ollama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46719" y="1097280"/>
            <a:ext cx="3474720" cy="4572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38159" y="10972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Trebuchet MS"/>
              </a:defRPr>
            </a:pPr>
            <a:r>
              <a:t>数据与存储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46719" y="1828800"/>
            <a:ext cx="347472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83879" y="190195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MySQL + PostgreSQL / PgVector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46719" y="2331720"/>
            <a:ext cx="347472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83879" y="240487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Redis 缓存 &amp; 消息通知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46719" y="2834640"/>
            <a:ext cx="347472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83879" y="290779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MinIO / 七牛云 OSS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46719" y="3337560"/>
            <a:ext cx="347472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183879" y="341071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Docker 容器化部署</a:t>
            </a:r>
          </a:p>
        </p:txBody>
      </p:sp>
    </p:spTree>
  </p:cSld>
  <p:transition spd="med">
    <p:cover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AI 智能体架构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4/9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097280"/>
            <a:ext cx="5029200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097280"/>
            <a:ext cx="54864" cy="109728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2344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284C7"/>
                </a:solidFill>
                <a:latin typeface="Trebuchet MS"/>
              </a:defRPr>
            </a:pPr>
            <a:r>
              <a:t>BaseAgent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6459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LLM 调用 · 记忆管理 · 基础抽象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21488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4748B"/>
                </a:solidFill>
                <a:latin typeface="Calibri"/>
              </a:defRPr>
            </a:pPr>
            <a:r>
              <a:t>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468880"/>
            <a:ext cx="5029200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468880"/>
            <a:ext cx="54864" cy="1097280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606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D948F"/>
                </a:solidFill>
                <a:latin typeface="Trebuchet MS"/>
              </a:defRPr>
            </a:pPr>
            <a:r>
              <a:t>ReActAgent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0175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思考 → 行动 → 观察循环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35204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4748B"/>
                </a:solidFill>
                <a:latin typeface="Calibri"/>
              </a:defRPr>
            </a:pPr>
            <a:r>
              <a:t>⬇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840480"/>
            <a:ext cx="5029200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3840480"/>
            <a:ext cx="54864" cy="109728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977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A580C"/>
                </a:solidFill>
                <a:latin typeface="Trebuchet MS"/>
              </a:defRPr>
            </a:pPr>
            <a:r>
              <a:t>ToolCallAgent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3891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工具注册 · Function Calling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1097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F172A"/>
                </a:solidFill>
                <a:latin typeface="Trebuchet MS"/>
              </a:defRPr>
            </a:pPr>
            <a:r>
              <a:t>核心组件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1691640"/>
            <a:ext cx="548640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7920" y="1691640"/>
            <a:ext cx="54864" cy="64008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173736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284C7"/>
                </a:solidFill>
                <a:latin typeface="Trebuchet MS"/>
              </a:defRPr>
            </a:pPr>
            <a:r>
              <a:t>RAG 知识库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2039112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PgVector + 云知识库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2441448"/>
            <a:ext cx="548640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17920" y="2441448"/>
            <a:ext cx="54864" cy="640080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0" y="2487168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D948F"/>
                </a:solidFill>
                <a:latin typeface="Trebuchet MS"/>
              </a:defRPr>
            </a:pPr>
            <a:r>
              <a:t>工具调用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278892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Web搜索 · 终端 · 文件 · PDF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3191256"/>
            <a:ext cx="548640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17920" y="3191256"/>
            <a:ext cx="54864" cy="64008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92240" y="3236976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A580C"/>
                </a:solidFill>
                <a:latin typeface="Trebuchet MS"/>
              </a:defRPr>
            </a:pPr>
            <a:r>
              <a:t>对话记忆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3538728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MySQL 持久化 + 内存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17920" y="3941064"/>
            <a:ext cx="548640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17920" y="3941064"/>
            <a:ext cx="54864" cy="6400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92240" y="3986784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C3AED"/>
                </a:solidFill>
                <a:latin typeface="Trebuchet MS"/>
              </a:defRPr>
            </a:pPr>
            <a:r>
              <a:t>安全过滤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2240" y="4288536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敏感词 · 权限控制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17920" y="4690872"/>
            <a:ext cx="548640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217920" y="4690872"/>
            <a:ext cx="54864" cy="64008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92240" y="4736592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284C7"/>
                </a:solidFill>
                <a:latin typeface="Trebuchet MS"/>
              </a:defRPr>
            </a:pPr>
            <a:r>
              <a:t>MCP 客户端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92240" y="5038344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多协议工具集成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17920" y="5440679"/>
            <a:ext cx="548640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17920" y="5440679"/>
            <a:ext cx="54864" cy="640080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92240" y="5486399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D948F"/>
                </a:solidFill>
                <a:latin typeface="Trebuchet MS"/>
              </a:defRPr>
            </a:pPr>
            <a:r>
              <a:t>流式输出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92240" y="5788151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SSE 实时对话</a:t>
            </a:r>
          </a:p>
        </p:txBody>
      </p:sp>
    </p:spTree>
  </p:cSld>
  <p:transition spd="med">
    <p:wipe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C端 — 简历AI助手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5/9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097280"/>
            <a:ext cx="3474720" cy="2240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097280"/>
            <a:ext cx="3474720" cy="4572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32588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284C7"/>
                </a:solidFill>
                <a:latin typeface="Trebuchet MS"/>
              </a:defRPr>
            </a:pPr>
            <a:r>
              <a:t>智能简历润色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2024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Calibri"/>
              </a:defRPr>
            </a:pPr>
            <a:r>
              <a:t>AI 分析并优化简历</a:t>
            </a:r>
            <a:br/>
            <a:r>
              <a:t>自动调整措辞与排版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097280"/>
            <a:ext cx="3474720" cy="2240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097280"/>
            <a:ext cx="3474720" cy="45720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132588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D948F"/>
                </a:solidFill>
                <a:latin typeface="Trebuchet MS"/>
              </a:defRPr>
            </a:pPr>
            <a:r>
              <a:t>定制化建议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192024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Calibri"/>
              </a:defRPr>
            </a:pPr>
            <a:r>
              <a:t>根据目标 JD 提供</a:t>
            </a:r>
            <a:br/>
            <a:r>
              <a:t>针对性修改方案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097280"/>
            <a:ext cx="3474720" cy="2240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1097280"/>
            <a:ext cx="3474720" cy="457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132588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A580C"/>
                </a:solidFill>
                <a:latin typeface="Trebuchet MS"/>
              </a:defRPr>
            </a:pPr>
            <a:r>
              <a:t>RAG 增强检索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192024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Calibri"/>
              </a:defRPr>
            </a:pPr>
            <a:r>
              <a:t>向量数据库匹配</a:t>
            </a:r>
            <a:br/>
            <a:r>
              <a:t>精准推荐行业知识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703320"/>
            <a:ext cx="3474720" cy="2240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3703320"/>
            <a:ext cx="3474720" cy="457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393192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C3AED"/>
                </a:solidFill>
                <a:latin typeface="Trebuchet MS"/>
              </a:defRPr>
            </a:pPr>
            <a:r>
              <a:t>工具调用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52628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Calibri"/>
              </a:defRPr>
            </a:pPr>
            <a:r>
              <a:t>Web搜索 · PDF生成</a:t>
            </a:r>
            <a:br/>
            <a:r>
              <a:t>邮件发送 · 文件操作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43400" y="3703320"/>
            <a:ext cx="3474720" cy="2240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43400" y="3703320"/>
            <a:ext cx="3474720" cy="4572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26280" y="393192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284C7"/>
                </a:solidFill>
                <a:latin typeface="Trebuchet MS"/>
              </a:defRPr>
            </a:pPr>
            <a:r>
              <a:t>流式对话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26280" y="452628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Calibri"/>
              </a:defRPr>
            </a:pPr>
            <a:r>
              <a:t>SSE 实时响应</a:t>
            </a:r>
            <a:br/>
            <a:r>
              <a:t>打字机效果呈现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38160" y="3703320"/>
            <a:ext cx="3474720" cy="2240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138160" y="3703320"/>
            <a:ext cx="3474720" cy="45720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21040" y="393192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D948F"/>
                </a:solidFill>
                <a:latin typeface="Trebuchet MS"/>
              </a:defRPr>
            </a:pPr>
            <a:r>
              <a:t>生态服务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452628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Calibri"/>
              </a:defRPr>
            </a:pPr>
            <a:r>
              <a:t>MinIO / 七牛云存储</a:t>
            </a:r>
            <a:br/>
            <a:r>
              <a:t>多行业模板支持</a:t>
            </a:r>
          </a:p>
        </p:txBody>
      </p:sp>
    </p:spTree>
  </p:cSld>
  <p:transition spd="med">
    <p:uncover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B端 — 系统管理助手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6/9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051560"/>
            <a:ext cx="5943600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051560"/>
            <a:ext cx="54864" cy="86868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14300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284C7"/>
                </a:solidFill>
                <a:latin typeface="Trebuchet MS"/>
              </a:defRPr>
            </a:pPr>
            <a:r>
              <a:t>用户管理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4630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注册/登录 · 权限分配 · 角色控制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075688"/>
            <a:ext cx="5943600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075688"/>
            <a:ext cx="54864" cy="86868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167128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284C7"/>
                </a:solidFill>
                <a:latin typeface="Trebuchet MS"/>
              </a:defRPr>
            </a:pPr>
            <a:r>
              <a:t>简历模板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487168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行业模板 CRUD · 启用/禁用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099816"/>
            <a:ext cx="5943600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099816"/>
            <a:ext cx="54864" cy="86868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191256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284C7"/>
                </a:solidFill>
                <a:latin typeface="Trebuchet MS"/>
              </a:defRPr>
            </a:pPr>
            <a:r>
              <a:t>题库管理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511296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题目增删改查 · 分类与难度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123944"/>
            <a:ext cx="5943600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4123944"/>
            <a:ext cx="54864" cy="86868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215384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284C7"/>
                </a:solidFill>
                <a:latin typeface="Trebuchet MS"/>
              </a:defRPr>
            </a:pPr>
            <a:r>
              <a:t>FAQ管理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535424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常见问题维护 · 内容审核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148072"/>
            <a:ext cx="5943600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5148072"/>
            <a:ext cx="54864" cy="86868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523951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284C7"/>
                </a:solidFill>
                <a:latin typeface="Trebuchet MS"/>
              </a:defRPr>
            </a:pPr>
            <a:r>
              <a:t>使用指南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559552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手册编辑 · 图文发布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49440" y="10515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D948F"/>
                </a:solidFill>
                <a:latin typeface="Trebuchet MS"/>
              </a:defRPr>
            </a:pPr>
            <a:r>
              <a:t>AI 管理能力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0" y="16459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Calibri"/>
              </a:defRPr>
            </a:pPr>
            <a:r>
              <a:t>✦ 智能数据统计与分析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0" y="21031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Calibri"/>
              </a:defRPr>
            </a:pPr>
            <a:r>
              <a:t>✦ 自动化运营建议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49440" y="25603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Calibri"/>
              </a:defRPr>
            </a:pPr>
            <a:r>
              <a:t>✦ 异常行为检测预警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49440" y="30175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Calibri"/>
              </a:defRPr>
            </a:pPr>
            <a:r>
              <a:t>✦ 智能问答辅助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40" y="3474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Calibri"/>
              </a:defRPr>
            </a:pPr>
            <a:r>
              <a:t>✦ 内容自动审核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49440" y="39319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Calibri"/>
              </a:defRPr>
            </a:pPr>
            <a:r>
              <a:t>✦ 批量操作自动化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49440" y="43891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Calibri"/>
              </a:defRPr>
            </a:pPr>
            <a:r>
              <a:t>✦ 日志诊断分析</a:t>
            </a:r>
          </a:p>
        </p:txBody>
      </p:sp>
    </p:spTree>
  </p:cSld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D端 — 数据与监控平台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7/9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097280"/>
            <a:ext cx="530352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097280"/>
            <a:ext cx="5303520" cy="4572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3258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284C7"/>
                </a:solidFill>
                <a:latin typeface="Trebuchet MS"/>
              </a:defRPr>
            </a:pPr>
            <a:r>
              <a:t>实时访问监控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011680"/>
            <a:ext cx="4754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Calibri"/>
              </a:defRPr>
            </a:pPr>
            <a:r>
              <a:t>日活/总访问量追踪</a:t>
            </a:r>
            <a:br/>
            <a:r>
              <a:t>C端/B端多维数据看板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59" y="1097280"/>
            <a:ext cx="530352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59" y="1097280"/>
            <a:ext cx="5303520" cy="45720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79" y="13258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D948F"/>
                </a:solidFill>
                <a:latin typeface="Trebuchet MS"/>
              </a:defRPr>
            </a:pPr>
            <a:r>
              <a:t>广告投放管理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79" y="2011680"/>
            <a:ext cx="4754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Calibri"/>
              </a:defRPr>
            </a:pPr>
            <a:r>
              <a:t>广告上下架与排期</a:t>
            </a:r>
            <a:br/>
            <a:r>
              <a:t>用户端展示效果追踪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749039"/>
            <a:ext cx="530352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749039"/>
            <a:ext cx="5303520" cy="457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977639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A580C"/>
                </a:solidFill>
                <a:latin typeface="Trebuchet MS"/>
              </a:defRPr>
            </a:pPr>
            <a:r>
              <a:t>服务机器监控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663439"/>
            <a:ext cx="4754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Calibri"/>
              </a:defRPr>
            </a:pPr>
            <a:r>
              <a:t>SSH 远程连接管理</a:t>
            </a:r>
            <a:br/>
            <a:r>
              <a:t>健康检测与实时告警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59" y="3749039"/>
            <a:ext cx="530352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59" y="3749039"/>
            <a:ext cx="5303520" cy="457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79" y="3977639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7C3AED"/>
                </a:solidFill>
                <a:latin typeface="Trebuchet MS"/>
              </a:defRPr>
            </a:pPr>
            <a:r>
              <a:t>智能数据报表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79" y="4663439"/>
            <a:ext cx="4754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Calibri"/>
              </a:defRPr>
            </a:pPr>
            <a:r>
              <a:t>Prometheus 指标采集</a:t>
            </a:r>
            <a:br/>
            <a:r>
              <a:t>Grafana 大屏可视化</a:t>
            </a:r>
          </a:p>
        </p:txBody>
      </p:sp>
    </p:spTree>
  </p:cSld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未来前景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8/9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188720"/>
            <a:ext cx="3474720" cy="4114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1188720"/>
            <a:ext cx="3474720" cy="4572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14630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284C7"/>
                </a:solidFill>
                <a:latin typeface="Trebuchet MS"/>
              </a:defRPr>
            </a:pPr>
            <a:r>
              <a:t>近期目标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194560"/>
            <a:ext cx="2926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1E293B"/>
                </a:solidFill>
                <a:latin typeface="Calibri"/>
              </a:defRPr>
            </a:pPr>
            <a:r>
              <a:t>完善多Agent协作</a:t>
            </a:r>
            <a:br/>
            <a:r>
              <a:t>优化RAG效果</a:t>
            </a:r>
            <a:br/>
            <a:r>
              <a:t>扩展行业模板库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188720"/>
            <a:ext cx="3474720" cy="4114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80" y="1188720"/>
            <a:ext cx="3474720" cy="45720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4630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D948F"/>
                </a:solidFill>
                <a:latin typeface="Trebuchet MS"/>
              </a:defRPr>
            </a:pPr>
            <a:r>
              <a:t>中期规划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194560"/>
            <a:ext cx="2926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1E293B"/>
                </a:solidFill>
                <a:latin typeface="Calibri"/>
              </a:defRPr>
            </a:pPr>
            <a:r>
              <a:t>上线移动端</a:t>
            </a:r>
            <a:br/>
            <a:r>
              <a:t>接入更多LLM</a:t>
            </a:r>
            <a:br/>
            <a:r>
              <a:t>开放API生态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80960" y="1188720"/>
            <a:ext cx="3474720" cy="4114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680960" y="1188720"/>
            <a:ext cx="3474720" cy="457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80" y="14630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EA580C"/>
                </a:solidFill>
                <a:latin typeface="Trebuchet MS"/>
              </a:defRPr>
            </a:pPr>
            <a:r>
              <a:t>远期愿景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80" y="2194560"/>
            <a:ext cx="2926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1E293B"/>
                </a:solidFill>
                <a:latin typeface="Calibri"/>
              </a:defRPr>
            </a:pPr>
            <a:r>
              <a:t>全链路AI求职平台</a:t>
            </a:r>
            <a:br/>
            <a:r>
              <a:t>从简历到入职</a:t>
            </a:r>
            <a:br/>
            <a:r>
              <a:t>智能闭环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" y="5852160"/>
            <a:ext cx="10362895" cy="4572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85216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Trebuchet MS"/>
              </a:defRPr>
            </a:pPr>
            <a:r>
              <a:t>让每个人都能找到理想的工作 — AI 赋能求职全流程</a:t>
            </a:r>
          </a:p>
        </p:txBody>
      </p:sp>
    </p:spTree>
  </p:cSld>
  <p:transition spd="med">
    <p:cover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9/9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0" y="1828800"/>
            <a:ext cx="2133295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0F172A"/>
                </a:solidFill>
                <a:latin typeface="Trebuchet MS"/>
              </a:defRPr>
            </a:pPr>
            <a:r>
              <a:t>感谢聆听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9184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0284C7"/>
                </a:solidFill>
                <a:latin typeface="Trebuchet MS"/>
              </a:defRPr>
            </a:pPr>
            <a:r>
              <a:t>EasyApplyResume — AI 驱动的智能求职与管理平台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Calibri"/>
              </a:defRPr>
            </a:pPr>
            <a:r>
              <a:t>Spring Boot · Spring AI · MyBatis-Plus · Redis · PostgreSQL · React · Docker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12064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shiningCloud2025 © 2026</a:t>
            </a:r>
          </a:p>
        </p:txBody>
      </p:sp>
    </p:spTree>
  </p:cSld>
  <p:transition spd="med"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