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0F172A"/>
                </a:solidFill>
                <a:latin typeface="Trebuchet MS"/>
              </a:defRPr>
            </a:pPr>
            <a:r>
              <a:t>EasyApplyResume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0" y="2468880"/>
            <a:ext cx="3962095" cy="457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284C7"/>
                </a:solidFill>
                <a:latin typeface="Trebuchet MS"/>
              </a:defRPr>
            </a:pPr>
            <a:r>
              <a:t>基于SpringAI和机器学习的智能简历平台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Calibri"/>
              </a:defRPr>
            </a:pPr>
            <a:r>
              <a:t>基于AI+机器学习驱动的智能求职与管理平台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F172A"/>
                </a:solidFill>
                <a:latin typeface="Trebuchet MS"/>
              </a:defRPr>
            </a:pPr>
            <a:r>
              <a:t>学号：2206010629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61772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F172A"/>
                </a:solidFill>
                <a:latin typeface="Trebuchet MS"/>
              </a:defRPr>
            </a:pPr>
            <a:r>
              <a:t>班级：计算22-6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F172A"/>
                </a:solidFill>
                <a:latin typeface="Trebuchet MS"/>
              </a:defRPr>
            </a:pPr>
            <a:r>
              <a:t>姓名：赵云翰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440679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F172A"/>
                </a:solidFill>
                <a:latin typeface="Trebuchet MS"/>
              </a:defRPr>
            </a:pPr>
            <a:r>
              <a:t>开源项目地址：github.com/shiningCloud2025/EasyApplyResume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目录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2/10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05840"/>
            <a:ext cx="11064240" cy="5303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1280160"/>
            <a:ext cx="411480" cy="41148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Trebuchet M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2801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项目背景与痛点深度分析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423160"/>
            <a:ext cx="411480" cy="41148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Trebuchet MS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4231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技术选型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Trebuchet MS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5661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系统总体架构图</a:t>
            </a:r>
          </a:p>
        </p:txBody>
      </p:sp>
      <p:sp>
        <p:nvSpPr>
          <p:cNvPr id="13" name="Oval 12"/>
          <p:cNvSpPr/>
          <p:nvPr/>
        </p:nvSpPr>
        <p:spPr>
          <a:xfrm>
            <a:off x="7498079" y="1280160"/>
            <a:ext cx="411480" cy="41148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Trebuchet MS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2801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C端 — 易投简历用户端</a:t>
            </a:r>
          </a:p>
        </p:txBody>
      </p:sp>
      <p:sp>
        <p:nvSpPr>
          <p:cNvPr id="15" name="Oval 14"/>
          <p:cNvSpPr/>
          <p:nvPr/>
        </p:nvSpPr>
        <p:spPr>
          <a:xfrm>
            <a:off x="7498079" y="2423160"/>
            <a:ext cx="411480" cy="41148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Trebuchet MS"/>
              </a:defRPr>
            </a:pPr>
            <a: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24231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B端 — 易投简历管理端</a:t>
            </a:r>
          </a:p>
        </p:txBody>
      </p:sp>
      <p:sp>
        <p:nvSpPr>
          <p:cNvPr id="17" name="Oval 16"/>
          <p:cNvSpPr/>
          <p:nvPr/>
        </p:nvSpPr>
        <p:spPr>
          <a:xfrm>
            <a:off x="7498079" y="3566160"/>
            <a:ext cx="411480" cy="41148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Trebuchet MS"/>
              </a:defRPr>
            </a:pPr>
            <a: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35661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D端 — 广告与监控端</a:t>
            </a:r>
          </a:p>
        </p:txBody>
      </p:sp>
      <p:sp>
        <p:nvSpPr>
          <p:cNvPr id="19" name="Oval 18"/>
          <p:cNvSpPr/>
          <p:nvPr/>
        </p:nvSpPr>
        <p:spPr>
          <a:xfrm>
            <a:off x="4572000" y="4846320"/>
            <a:ext cx="411480" cy="41148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Trebuchet MS"/>
              </a:defRPr>
            </a:pPr>
            <a: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48463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总结与展望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5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5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项目背景与痛点深度分析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3/10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5486400" cy="3520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 tIns="228600"/>
          <a:lstStyle/>
          <a:p>
            <a:pPr algn="ctr">
              <a:spcAft>
                <a:spcPts val="1200"/>
              </a:spcAft>
              <a:defRPr sz="2200" b="1">
                <a:solidFill>
                  <a:srgbClr val="0284C7"/>
                </a:solidFill>
                <a:latin typeface="Trebuchet MS"/>
              </a:defRPr>
            </a:pPr>
            <a:r>
              <a:t>01 求职市场的严峻现状</a:t>
            </a:r>
          </a:p>
          <a:p>
            <a:r>
              <a:rPr sz="1300">
                <a:solidFill>
                  <a:srgbClr val="64748B"/>
                </a:solidFill>
                <a:latin typeface="Calibri"/>
              </a:rPr>
              <a:t>2025届全国高校毕业生规模预测达 </a:t>
            </a:r>
            <a:r>
              <a:rPr sz="3000" b="1">
                <a:solidFill>
                  <a:srgbClr val="0284C7"/>
                </a:solidFill>
                <a:latin typeface="Trebuchet MS"/>
              </a:rPr>
              <a:t>1222 万</a:t>
            </a:r>
            <a:r>
              <a:rPr sz="1300">
                <a:solidFill>
                  <a:srgbClr val="64748B"/>
                </a:solidFill>
                <a:latin typeface="Calibri"/>
              </a:rPr>
              <a:t> 人，竞争空前激烈。</a:t>
            </a:r>
          </a:p>
          <a:p>
            <a:pPr>
              <a:spcBef>
                <a:spcPts val="16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简历竞争力不透明：</a:t>
            </a:r>
            <a:r>
              <a:rPr sz="1100">
                <a:solidFill>
                  <a:srgbClr val="64748B"/>
                </a:solidFill>
                <a:latin typeface="Calibri"/>
              </a:rPr>
              <a:t>缺乏专业的量化分析与针对性的优化建议，难以突出个人优势。</a:t>
            </a:r>
          </a:p>
          <a:p>
            <a:pPr>
              <a:spcBef>
                <a:spcPts val="16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咨询服务响应滞后：</a:t>
            </a:r>
            <a:r>
              <a:rPr sz="1100">
                <a:solidFill>
                  <a:srgbClr val="64748B"/>
                </a:solidFill>
                <a:latin typeface="Calibri"/>
              </a:rPr>
              <a:t>专业顾问服务供需严重失衡，信息传递存在壁垒，反馈不及时。</a:t>
            </a:r>
          </a:p>
          <a:p>
            <a:pPr>
              <a:spcBef>
                <a:spcPts val="16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笔试准备缺乏资源：</a:t>
            </a:r>
            <a:r>
              <a:rPr sz="1100">
                <a:solidFill>
                  <a:srgbClr val="64748B"/>
                </a:solidFill>
                <a:latin typeface="Calibri"/>
              </a:rPr>
              <a:t>缺乏行业真实题库与场景化模拟，导致备考效率低、实战能力弱。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051560"/>
            <a:ext cx="5303520" cy="3520440"/>
          </a:xfrm>
          <a:prstGeom prst="round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 tIns="228600"/>
          <a:lstStyle/>
          <a:p>
            <a:pPr algn="ctr">
              <a:spcAft>
                <a:spcPts val="1600"/>
              </a:spcAft>
              <a:defRPr sz="2200" b="1">
                <a:solidFill>
                  <a:srgbClr val="0284C7"/>
                </a:solidFill>
                <a:latin typeface="Trebuchet MS"/>
              </a:defRPr>
            </a:pPr>
            <a:r>
              <a:t>02 核心使命</a:t>
            </a:r>
          </a:p>
          <a:p>
            <a:pPr>
              <a:lnSpc>
                <a:spcPts val="2400"/>
              </a:lnSpc>
              <a:spcAft>
                <a:spcPts val="18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利用人工智能技术结合海量人工收集的行业数据，彻底打破求职过程中的信息差，打造高效、透明、专业的一站式解决方案。</a:t>
            </a:r>
          </a:p>
          <a:p>
            <a:pPr>
              <a:spcBef>
                <a:spcPts val="13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简历量化评估：</a:t>
            </a:r>
            <a:r>
              <a:rPr sz="1000">
                <a:solidFill>
                  <a:srgbClr val="64748B"/>
                </a:solidFill>
                <a:latin typeface="Calibri"/>
              </a:rPr>
              <a:t>基于机器学习模型对简历内容进行多维度量化评分，精准匹配岗位需求，大幅提升简历投递的针对性与通过率。</a:t>
            </a:r>
          </a:p>
          <a:p>
            <a:pPr>
              <a:spcBef>
                <a:spcPts val="13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智能交互咨询：</a:t>
            </a:r>
            <a:r>
              <a:rPr sz="1000">
                <a:solidFill>
                  <a:srgbClr val="64748B"/>
                </a:solidFill>
                <a:latin typeface="Calibri"/>
              </a:rPr>
              <a:t>构建具备深度行业语义理解能力的 AI 问答系统，提供 24/7 实时咨询服务，打破传统顾问服务的时间与成本壁垒。</a:t>
            </a:r>
          </a:p>
          <a:p>
            <a:pPr>
              <a:spcBef>
                <a:spcPts val="13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全流程实战演练：</a:t>
            </a:r>
            <a:r>
              <a:rPr sz="1000">
                <a:solidFill>
                  <a:srgbClr val="64748B"/>
                </a:solidFill>
                <a:latin typeface="Calibri"/>
              </a:rPr>
              <a:t>打造高度仿真的笔试模拟与岗位实训环境，通过实战反馈辅助职业决策，补齐求职准备的短板。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754880"/>
            <a:ext cx="3474720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0284C7"/>
                </a:solidFill>
                <a:latin typeface="Trebuchet MS"/>
              </a:defRPr>
            </a:pPr>
            <a:r>
              <a:t>① 简历分析痛点</a:t>
            </a:r>
          </a:p>
          <a:p>
            <a:pPr>
              <a:lnSpc>
                <a:spcPts val="15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传统简历无法直观感知在算法系统中的真实得分，导致求职者在投递环节缺乏针对性，盲目投递且筛选通过率与岗位匹配转化率均处于低位。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4754880"/>
            <a:ext cx="3474720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② 交互咨询痛点</a:t>
            </a:r>
          </a:p>
          <a:p>
            <a:pPr>
              <a:lnSpc>
                <a:spcPts val="15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专业的人工职业指导存在成本高昂、响应滞后的局限。求职者急需一个具备行业深度语义理解能力、可提供24/7实时服务的智能咨询助手来解决个性化疑问。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4754880"/>
            <a:ext cx="3474720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EA580C"/>
                </a:solidFill>
                <a:latin typeface="Trebuchet MS"/>
              </a:defRPr>
            </a:pPr>
            <a:r>
              <a:t>③ 实战演练痛点</a:t>
            </a:r>
          </a:p>
          <a:p>
            <a:pPr>
              <a:lnSpc>
                <a:spcPts val="15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不同企业的笔试题型差异巨大，且缺乏有效的反馈机制。学生需要一个高度仿真的专业模拟环境，帮助他们提前熟悉考核逻辑，通过实战反馈辅助职业决策。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技术选型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4/10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5156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0284C7"/>
                </a:solidFill>
                <a:latin typeface="Trebuchet MS"/>
              </a:defRPr>
            </a:pPr>
            <a:r>
              <a:t>前端技术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React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Vue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Ant Design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ElementUI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Vite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051560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105156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0D948F"/>
                </a:solidFill>
                <a:latin typeface="Trebuchet MS"/>
              </a:defRPr>
            </a:pPr>
            <a:r>
              <a:t>后端技术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SpringBoot3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SpringMVC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MyBatisPlus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SpringSecurity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SpringTask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JWT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LogBack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051560"/>
            <a:ext cx="3474720" cy="54864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38159" y="105156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EA580C"/>
                </a:solidFill>
                <a:latin typeface="Trebuchet MS"/>
              </a:defRPr>
            </a:pPr>
            <a:r>
              <a:t>存储技术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MySQL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PostgreSQL / PgVector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Redis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MinIO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七牛云KODO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Nacos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Yapi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59" y="1051560"/>
            <a:ext cx="3474720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384048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7C3AED"/>
                </a:solidFill>
                <a:latin typeface="Trebuchet MS"/>
              </a:defRPr>
            </a:pPr>
            <a:r>
              <a:t>AI 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机器学习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Embedding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840480"/>
            <a:ext cx="347472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89120" y="384048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DC2626"/>
                </a:solidFill>
                <a:latin typeface="Trebuchet MS"/>
              </a:defRPr>
            </a:pPr>
            <a:r>
              <a:t>LLM 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SpringAI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SpringAIAlibaba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Prompt 工程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RAG 检索增强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Function Calling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ReAct Agent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3840480"/>
            <a:ext cx="347472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38159" y="384048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65A30D"/>
                </a:solidFill>
                <a:latin typeface="Trebuchet MS"/>
              </a:defRPr>
            </a:pPr>
            <a:r>
              <a:t>运维技术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Docker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Docker Compose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SpringBootAdmin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Prometheus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Grafana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59" y="3840480"/>
            <a:ext cx="3474720" cy="54864"/>
          </a:xfrm>
          <a:prstGeom prst="rect">
            <a:avLst/>
          </a:prstGeom>
          <a:solidFill>
            <a:srgbClr val="65A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易投简历系统总体架构图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4/9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64748B"/>
                </a:solidFill>
              </a:defRPr>
            </a:pPr>
            <a:r>
              <a:t>[请将架构图保存为 out/architecture.png]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C端 — 易投简历用户端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6/10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51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28600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我的简历模块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导入简历 / 新建简历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在线编辑 / 给HR发送简历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051560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1051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28600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简历模版模块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简历模版库 / 创建新的简历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051560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38159" y="1051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28600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招聘信息模块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招聘公司浏览 / 招聘岗位浏览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招聘地点浏览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59" y="1051560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3611879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28600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求职攻略模块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行业指南 / 面试技巧 / 职场干货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611879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89120" y="3611879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28600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AI简历助手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智能润色 / 流式对话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记忆对话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3611879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38159" y="3611879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28600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笔试专项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题库分类 / 题目练习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题目解析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59" y="3611879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B端 — 易投简历管理端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7/10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51560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网站管理模块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管理员管理 / 角色管理 / 权限管理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51560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43200" y="1051560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文章管理模块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求职攻略文章管理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1051560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983480" y="1051560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招聘管理模块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招聘岗位管理 / 招聘信息管理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83480" y="1051560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223760" y="1051560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简历管理模块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简历模版管理 / 系统删除简历管理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23760" y="1051560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464040" y="1051560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Map管理模块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行业 / 大学 / 省份 / 城市 / 区县 / 街道Map管理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64040" y="1051560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2920" y="3840479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AI管理模块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AI智能问答助手 / AI智能体助手 / LLM调用日志管理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840479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743200" y="3840479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反馈管理模块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用户端反馈管理 / 管理端反馈管理 / 用户端反馈记录 / 管理端反馈记录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3840479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983480" y="3840479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笔试专项管理模块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题库大类管理 / 题库小类管理 / 题库题目管理 / 用户答题管理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83480" y="3840479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223760" y="3840479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评分模型管理模块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训练数据管理 / 训练代码管理 / 模型版本管理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23760" y="3840479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464040" y="3840479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内外系统等模块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内部系统 / 外部系统 / API文档中心等模块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64040" y="3840479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5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5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5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6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D端 — 易投简历广告与监控端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8/10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/>
              </a:defRPr>
            </a:pPr>
            <a:r>
              <a:t>公告管理模块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管理端公告管理 / 用户端公告管理 / 监测端公告管理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51560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43400" y="1051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/>
              </a:defRPr>
            </a:pPr>
            <a:r>
              <a:t>广告管理模块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管理端广告管理 / 用户端广告管理 / 监测端广告管理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051560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38160" y="1051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/>
              </a:defRPr>
            </a:pPr>
            <a:r>
              <a:t>用户监测管理模块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网站管理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051560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3611879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/>
              </a:defRPr>
            </a:pPr>
            <a:r>
              <a:t>管理监测管理模块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网站管理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611879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43400" y="3611879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/>
              </a:defRPr>
            </a:pPr>
            <a:r>
              <a:t>服务器管理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设备管理 / 设备监控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3611879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38160" y="3611879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/>
              </a:defRPr>
            </a:pPr>
            <a:r>
              <a:t>网站安全管理模块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SpringBootAdmin / Prometheus / Grafana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3611879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总结与展望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9/10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05840"/>
            <a:ext cx="1088136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2000"/>
              </a:spcAft>
              <a:defRPr sz="2200" b="1">
                <a:solidFill>
                  <a:srgbClr val="0284C7"/>
                </a:solidFill>
                <a:latin typeface="Trebuchet MS"/>
              </a:defRPr>
            </a:pPr>
            <a:r>
              <a:t>已解决的问题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OSS孤儿数据清理 / 逻辑删除updateById修复 / 细粒度权限控制优化 / 多数据源统一管理 / 流式响应性能优化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834640"/>
            <a:ext cx="1088136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2000"/>
              </a:spcAft>
              <a:defRPr sz="2200" b="1">
                <a:solidFill>
                  <a:srgbClr val="0D948F"/>
                </a:solidFill>
                <a:latin typeface="Trebuchet MS"/>
              </a:defRPr>
            </a:pPr>
            <a:r>
              <a:t>未解决的问题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大模型API并发能力受限 / 上下文记忆存储空间不足 / 自部署模型能力较弱 / 推理服务器成本较高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663440"/>
            <a:ext cx="1088136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2000"/>
              </a:spcAft>
              <a:defRPr sz="2200" b="1">
                <a:solidFill>
                  <a:srgbClr val="EA580C"/>
                </a:solidFill>
                <a:latin typeface="Trebuchet MS"/>
              </a:defRPr>
            </a:pPr>
            <a:r>
              <a:t>落地展望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高校市场(B端):赋能就业指导中心 / 个人用户(C端):AI简历优化+笔试模拟 / 招聘生态(D端):为HR提供评分等API接口,辅助筛选 / 智能简历初筛+人岗匹配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10/9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1645920"/>
            <a:ext cx="21332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0F172A"/>
                </a:solidFill>
                <a:latin typeface="Trebuchet MS"/>
              </a:defRPr>
            </a:pPr>
            <a:r>
              <a:t>感谢聆听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284C7"/>
                </a:solidFill>
                <a:latin typeface="Trebuchet MS"/>
              </a:defRPr>
            </a:pPr>
            <a:r>
              <a:t>EasyApplyResume — AI 驱动的智能求职与管理平台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F172A"/>
                </a:solidFill>
                <a:latin typeface="Trebuchet MS"/>
              </a:defRPr>
            </a:pPr>
            <a:r>
              <a:t>学号：2206010629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5196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F172A"/>
                </a:solidFill>
                <a:latin typeface="Trebuchet MS"/>
              </a:defRPr>
            </a:pPr>
            <a:r>
              <a:t>班级：计算22-6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66344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F172A"/>
                </a:solidFill>
                <a:latin typeface="Trebuchet MS"/>
              </a:defRPr>
            </a:pPr>
            <a:r>
              <a:t>姓名：赵云翰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F172A"/>
                </a:solidFill>
                <a:latin typeface="Trebuchet MS"/>
              </a:defRPr>
            </a:pPr>
            <a:r>
              <a:t>开源项目地址：github.com/shiningCloud2025/EasyApplyResume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